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d9e91039de4f02" /><Relationship Type="http://schemas.openxmlformats.org/officeDocument/2006/relationships/extended-properties" Target="/docProps/app.xml" Id="R73a643a59bb34033" /><Relationship Type="http://schemas.openxmlformats.org/officeDocument/2006/relationships/officeDocument" Target="/ppt/presentation.xml" Id="Raa7f91ecd664459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c2b9a47bd4e439b"/>
  </p:sldMasterIdLst>
  <p:notesMasterIdLst>
    <p:notesMasterId xmlns:r="http://schemas.openxmlformats.org/officeDocument/2006/relationships" r:id="R929616cc0ed0491d"/>
  </p:notesMasterIdLst>
  <p:sldIdLst>
    <p:sldId xmlns:r="http://schemas.openxmlformats.org/officeDocument/2006/relationships" id="256" r:id="R053732d58f0844cd"/>
  </p:sldIdLst>
  <p:sldSz cx="18288000" cy="10287000"/>
  <p:notesSz cx="6858000" cy="9144000"/>
  <p:embeddedFontLst>
    <p:embeddedFont>
      <p:font typeface="Noto Sans"/>
      <p:regular xmlns:r="http://schemas.openxmlformats.org/officeDocument/2006/relationships" r:id="Rb4bab84847994ea3"/>
    </p:embeddedFont>
    <p:embeddedFont>
      <p:font typeface="Noto Sans Bold"/>
      <p:regular xmlns:r="http://schemas.openxmlformats.org/officeDocument/2006/relationships" r:id="Rda2f7184875a4932"/>
    </p:embeddedFont>
    <p:embeddedFont>
      <p:font typeface="Arimo"/>
      <p:regular xmlns:r="http://schemas.openxmlformats.org/officeDocument/2006/relationships" r:id="R0b8e4293e3834f06"/>
    </p:embeddedFont>
    <p:embeddedFont>
      <p:font typeface="Arimo Bold"/>
      <p:regular xmlns:r="http://schemas.openxmlformats.org/officeDocument/2006/relationships" r:id="Re8e7db199a1c4098"/>
    </p:embeddedFont>
    <p:embeddedFont>
      <p:font typeface="Open Sans Bold"/>
      <p:regular xmlns:r="http://schemas.openxmlformats.org/officeDocument/2006/relationships" r:id="R87341e5a17274959"/>
    </p:embeddedFont>
    <p:embeddedFont>
      <p:font typeface="Mandali"/>
      <p:regular xmlns:r="http://schemas.openxmlformats.org/officeDocument/2006/relationships" r:id="R7fb967a5bcb14abb"/>
    </p:embeddedFont>
    <p:embeddedFont>
      <p:font typeface="Calibri (MS)"/>
      <p:regular xmlns:r="http://schemas.openxmlformats.org/officeDocument/2006/relationships" r:id="Rc03745bd15674b45"/>
    </p:embeddedFont>
    <p:embeddedFont>
      <p:font typeface="Calibri (MS) Bold"/>
      <p:regular xmlns:r="http://schemas.openxmlformats.org/officeDocument/2006/relationships" r:id="Rdd9610fb2a284cb2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13652f5e5a45f2" /><Relationship Type="http://schemas.openxmlformats.org/officeDocument/2006/relationships/slideMaster" Target="/ppt/slideMasters/slideMaster1.xml" Id="R1c2b9a47bd4e439b" /><Relationship Type="http://schemas.openxmlformats.org/officeDocument/2006/relationships/notesMaster" Target="/ppt/notesMasters/notesMaster1.xml" Id="R929616cc0ed0491d" /><Relationship Type="http://schemas.openxmlformats.org/officeDocument/2006/relationships/presProps" Target="/ppt/presProps.xml" Id="Rfcf085ecbba8464f" /><Relationship Type="http://schemas.openxmlformats.org/officeDocument/2006/relationships/viewProps" Target="/ppt/viewProps.xml" Id="Rcd1b558def0f48ff" /><Relationship Type="http://schemas.openxmlformats.org/officeDocument/2006/relationships/tableStyles" Target="/ppt/tableStyles.xml" Id="R47fb5d5bc24b4035" /><Relationship Type="http://schemas.openxmlformats.org/officeDocument/2006/relationships/font" Target="/ppt/fonts/font.dat" Id="Rb4bab84847994ea3" /><Relationship Type="http://schemas.openxmlformats.org/officeDocument/2006/relationships/font" Target="/ppt/fonts/font2.dat" Id="Rda2f7184875a4932" /><Relationship Type="http://schemas.openxmlformats.org/officeDocument/2006/relationships/font" Target="/ppt/fonts/font3.dat" Id="R0b8e4293e3834f06" /><Relationship Type="http://schemas.openxmlformats.org/officeDocument/2006/relationships/font" Target="/ppt/fonts/font4.dat" Id="Re8e7db199a1c4098" /><Relationship Type="http://schemas.openxmlformats.org/officeDocument/2006/relationships/font" Target="/ppt/fonts/font5.dat" Id="R87341e5a17274959" /><Relationship Type="http://schemas.openxmlformats.org/officeDocument/2006/relationships/font" Target="/ppt/fonts/font6.dat" Id="R7fb967a5bcb14abb" /><Relationship Type="http://schemas.openxmlformats.org/officeDocument/2006/relationships/font" Target="/ppt/fonts/font7.dat" Id="Rc03745bd15674b45" /><Relationship Type="http://schemas.openxmlformats.org/officeDocument/2006/relationships/font" Target="/ppt/fonts/font8.dat" Id="Rdd9610fb2a284cb2" /><Relationship Type="http://schemas.openxmlformats.org/officeDocument/2006/relationships/slide" Target="/ppt/slides/slide1.xml" Id="R053732d58f0844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615dd3ba6a4a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8109cd18a4404e" /><Relationship Type="http://schemas.openxmlformats.org/officeDocument/2006/relationships/notesMaster" Target="/ppt/notesMasters/notesMaster1.xml" Id="Rf4c232c5518941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버전1 C:/Users/chomg/Downloads/티_원_ (9).pdf 실제14쪽의 배치·박스·3단계 도식·글꼴·색상을 기준으로 문구만 교체했다. PDF 기준 박스 좌표를 추출해 동일 비율로 재구성했다. 새 표를 추가하거나 오른쪽 도식을 다른 구성으로 바꾸지 않았다.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긴급 정시율100%는 사용자 2026-10-22 최종 확정값을 반영했다. 소비·온도는 제공된 최종버전1 결과 페이지의 FIFO대비 값(S26 −8.5%/−0.87℃, A24 −1.32%/−0.29℃)을 유지했다. 전체 정시율과 건수는 새로 추정하지 않았다.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기기별 입력 규모·명목부하·자원모형이 달라 기기 간 성능 순위로 해석하지 않는다. 정책 전체의 성과이며 BC나 교사의 단독 기여를 입증한 결과가 아니다.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S26 긴급 응답 P95는 입력별 P95의 평균으로 FIFO/RR 약0.366초, EDF 약0.340초, 후보 약0.634초다. 기한준수와 응답속도를 구분했다.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실기기 통합 정책 검증·후속 연구 계획은 사용자 요청에 따라 제거했다. 새 기기에는 실측·모형·지원경로·자원 제약과 정책을 함께 반영해야 하므로 교사만 바꾼다는 표현도 제거했다.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2026-10-22 사용자 요청: 산업공학 중심의 문구를 원본과 수정본의 중간 정도로 조정. 실측 차이·정책 성과·조건별 시사점을 주 내용으로 복원하고, 산업공학의 기여는 하단 한 문장으로 정리했다. 기존 텍스트 18개만 교체했고, 모든 도형의 개수·위치·크기·색·글꼴·크기는 유지했다. 두 기기의 긴급 정시율100% 및 발표용 소비·온도 수치도 유지했다.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654d11a454b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bdff4a8054d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eeff1893c4c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8fabe0f2d4b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b9f49198940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fbba35ca047b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87f56434e9453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4edfda34e431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10f9647124d4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15aa92fac418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6d086ae6b4b2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8E12BD-046E-4E67-939B-36C5712214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E85D40F-666F-4553-89C9-DDE1AF47D9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6D661A-B865-49D8-9C88-1F678C166D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332A157-6091-4997-95C5-BFB22B6F16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AF1B5B-ABB8-4DE2-B031-EEA1A3192C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19B439-0F5A-458A-B88C-23AAC5ED23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F9003DD-CB28-46E4-843F-25DC66F2A6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6C549C-17C1-4FD6-87B0-CF86352214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CAB42B-2434-48B9-980F-6A84710CF3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481997-4AF2-4DD3-B86D-BD49C7A88C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5B9064-17E8-42F8-B325-C4BFBC03AB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EAF6C28-0C54-46CD-9894-3CA01C8768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1471B9-AE1B-4CE8-AECB-35839118C0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8A1AE63-92E5-42DC-9EF0-0CB2E09E27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0CC738-5752-422A-97E5-928230466E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3DBE36-B3CF-4D2E-8460-59A99CEAC6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E824456-162F-49FF-B7E2-907C6959F6C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DF8FE6-0E28-4699-975A-DF190B302C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4DD280B-3160-41C9-BAE9-5B284132DF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754E52-C8FE-45E5-B322-1A8F42701D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D020DC4-A4DD-4A7D-BCC6-A1E116701A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91024E-CC7A-4DD2-9861-B1AEAA0F3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63A626-A013-4169-864A-7B23F86E66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D0BA0EE-A9A8-41F2-B2B8-1DD8BFFB60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09A3B13-19EA-4BB7-97DC-0D1C66E5FC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AEF7A71-DE5A-4815-BC55-5931F372BFC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7A5F466-210A-4069-82B7-C9BA8722CA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936A025-E35F-4462-BD1B-63C023425B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4B76113-6813-4E64-B1D8-5DAC3C88E0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30ACE7-4E32-4F89-A7A5-EA68FF77A0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B2C2F5E-4C5B-4DEB-BE63-7FF6F024D8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7196713-D2A6-4ACA-9C3C-4A0E7ECC49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13834F3-C118-4E51-8209-792AA5B0C7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2DA95BE-38C0-4BE1-B9E2-23A31FAA6A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A8728EF-0BEC-4B7A-A3CD-38A5D5DF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B885505-26B7-48EA-AB4A-17410CA254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9DDEEE-BEB2-40B3-94A5-469711641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4E960C5-76BF-469F-BF67-25D0423DBB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DAF4097-B241-4E9B-9F86-7EA54DC81B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90AAD0A-DB02-4A23-BE72-B139CD5B83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26F80B2-D2AA-4AF8-83B0-AB29D0EAE4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6A4B137-CAF7-4ED1-A3A9-2C8FA46550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0BFD24-9BB2-4026-BD7A-14F5F31A0F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7F5192B-4292-43B2-90C1-32D9561B4DC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E5FF971-8271-462E-9229-AAF28706B0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057BF2D-A8B0-4C2E-9377-6C95316A4A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3F363A4-4989-4769-86C9-52B02BC3EF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5C03242-5A7B-49C5-9963-E0E440E56B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3B02C1-85A6-4F81-982A-5828164905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AA1D91-361E-4D98-9B88-7C2FBA167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40F632-8661-4F40-8E8D-91652C17A0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0DC391-4B79-4BF0-9095-F32103224C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F4A4E1-B430-475A-89EA-E912DE073F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AE8CF43-069C-4688-B48F-C082672725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6A54E6-E9DA-4B53-9888-5638CAFD07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C25E9D8-111B-4120-84E0-D12AC9C047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A73668-14EE-4139-8DBE-8DCE35CA0B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6878BE-24D9-4E33-98E6-CE80CD2782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284dc1306d4faa" /><Relationship Type="http://schemas.openxmlformats.org/officeDocument/2006/relationships/slideLayout" Target="/ppt/slideLayouts/slideLayout1.xml" Id="R8c2fb2a183124963" /><Relationship Type="http://schemas.openxmlformats.org/officeDocument/2006/relationships/slideLayout" Target="/ppt/slideLayouts/slideLayout2.xml" Id="R6dec0b7cda45438d" /><Relationship Type="http://schemas.openxmlformats.org/officeDocument/2006/relationships/slideLayout" Target="/ppt/slideLayouts/slideLayout3.xml" Id="R520f7b8e892f43e4" /><Relationship Type="http://schemas.openxmlformats.org/officeDocument/2006/relationships/slideLayout" Target="/ppt/slideLayouts/slideLayout4.xml" Id="Rb68dc9131fe44d0b" /><Relationship Type="http://schemas.openxmlformats.org/officeDocument/2006/relationships/slideLayout" Target="/ppt/slideLayouts/slideLayout5.xml" Id="Rdeaad16d417e47f2" /><Relationship Type="http://schemas.openxmlformats.org/officeDocument/2006/relationships/slideLayout" Target="/ppt/slideLayouts/slideLayout6.xml" Id="R7330da00802747cb" /><Relationship Type="http://schemas.openxmlformats.org/officeDocument/2006/relationships/slideLayout" Target="/ppt/slideLayouts/slideLayout7.xml" Id="R0ca88a71feca4f5f" /><Relationship Type="http://schemas.openxmlformats.org/officeDocument/2006/relationships/slideLayout" Target="/ppt/slideLayouts/slideLayout8.xml" Id="R1941232443d64dc9" /><Relationship Type="http://schemas.openxmlformats.org/officeDocument/2006/relationships/slideLayout" Target="/ppt/slideLayouts/slideLayout9.xml" Id="Rfa24616abc304fd8" /><Relationship Type="http://schemas.openxmlformats.org/officeDocument/2006/relationships/slideLayout" Target="/ppt/slideLayouts/slideLayout10.xml" Id="Rc7af85ee69ed4589" /><Relationship Type="http://schemas.openxmlformats.org/officeDocument/2006/relationships/slideLayout" Target="/ppt/slideLayouts/slideLayout11.xml" Id="R27800734b1f24ce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983646B-C652-4B94-A561-B097ABA6C3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B319B3-098A-4EE8-8360-DA8B60341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BB4B37-AB4A-480C-BDAB-411C00F03B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F776903-11F3-4C75-AA6B-925F34B0DB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71CF7F-7D21-4429-9487-31CFF3DDA9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2fb2a183124963"/>
    <p:sldLayoutId xmlns:r="http://schemas.openxmlformats.org/officeDocument/2006/relationships" id="2147483650" r:id="R6dec0b7cda45438d"/>
    <p:sldLayoutId xmlns:r="http://schemas.openxmlformats.org/officeDocument/2006/relationships" id="2147483651" r:id="R520f7b8e892f43e4"/>
    <p:sldLayoutId xmlns:r="http://schemas.openxmlformats.org/officeDocument/2006/relationships" id="2147483652" r:id="Rb68dc9131fe44d0b"/>
    <p:sldLayoutId xmlns:r="http://schemas.openxmlformats.org/officeDocument/2006/relationships" id="2147483653" r:id="Rdeaad16d417e47f2"/>
    <p:sldLayoutId xmlns:r="http://schemas.openxmlformats.org/officeDocument/2006/relationships" id="2147483654" r:id="R7330da00802747cb"/>
    <p:sldLayoutId xmlns:r="http://schemas.openxmlformats.org/officeDocument/2006/relationships" id="2147483655" r:id="R0ca88a71feca4f5f"/>
    <p:sldLayoutId xmlns:r="http://schemas.openxmlformats.org/officeDocument/2006/relationships" id="2147483656" r:id="R1941232443d64dc9"/>
    <p:sldLayoutId xmlns:r="http://schemas.openxmlformats.org/officeDocument/2006/relationships" id="2147483657" r:id="Rfa24616abc304fd8"/>
    <p:sldLayoutId xmlns:r="http://schemas.openxmlformats.org/officeDocument/2006/relationships" id="2147483658" r:id="Rc7af85ee69ed4589"/>
    <p:sldLayoutId xmlns:r="http://schemas.openxmlformats.org/officeDocument/2006/relationships" id="2147483659" r:id="R27800734b1f24cee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6ea5826bce4c4c" /><Relationship Type="http://schemas.openxmlformats.org/officeDocument/2006/relationships/notesSlide" Target="/ppt/notesSlides/notesSlide1.xml" Id="R0f0272bac4fa47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nav-0">
            <a:extLst xmlns:a="http://schemas.openxmlformats.org/drawingml/2006/main">
              <a:ext uri="{FF2B5EF4-FFF2-40B4-BE49-F238E27FC236}">
                <a16:creationId xmlns:a16="http://schemas.microsoft.com/office/drawing/2014/main" id="{90985B24-FDB5-465C-B045-78E5D1FD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rPr>
              <a:t>배경·문제</a:t>
            </a:r>
          </a:p>
        </p:txBody>
      </p:sp>
      <p:sp>
        <p:nvSpPr>
          <p:cNvPr id="2" name="nav-1">
            <a:extLst xmlns:a="http://schemas.openxmlformats.org/drawingml/2006/main">
              <a:ext uri="{FF2B5EF4-FFF2-40B4-BE49-F238E27FC236}">
                <a16:creationId xmlns:a16="http://schemas.microsoft.com/office/drawing/2014/main" id="{0CE407F9-6C68-44E8-8B6D-744C7AA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95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rPr>
              <a:t>실측·모형</a:t>
            </a:r>
          </a:p>
        </p:txBody>
      </p:sp>
      <p:sp>
        <p:nvSpPr>
          <p:cNvPr id="3" name="nav-2">
            <a:extLst xmlns:a="http://schemas.openxmlformats.org/drawingml/2006/main">
              <a:ext uri="{FF2B5EF4-FFF2-40B4-BE49-F238E27FC236}">
                <a16:creationId xmlns:a16="http://schemas.microsoft.com/office/drawing/2014/main" id="{7A5F6A88-9A3C-444F-85FB-8C1E612E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95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rPr>
              <a:t>정책 설계</a:t>
            </a:r>
          </a:p>
        </p:txBody>
      </p:sp>
      <p:sp>
        <p:nvSpPr>
          <p:cNvPr id="4" name="nav-3">
            <a:extLst xmlns:a="http://schemas.openxmlformats.org/drawingml/2006/main">
              <a:ext uri="{FF2B5EF4-FFF2-40B4-BE49-F238E27FC236}">
                <a16:creationId xmlns:a16="http://schemas.microsoft.com/office/drawing/2014/main" id="{AEA27754-C3AF-4D23-96A2-47D26E3B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rPr>
              <a:t>평가 설계</a:t>
            </a:r>
          </a:p>
        </p:txBody>
      </p:sp>
      <p:sp>
        <p:nvSpPr>
          <p:cNvPr id="5" name="nav-4">
            <a:extLst xmlns:a="http://schemas.openxmlformats.org/drawingml/2006/main">
              <a:ext uri="{FF2B5EF4-FFF2-40B4-BE49-F238E27FC236}">
                <a16:creationId xmlns:a16="http://schemas.microsoft.com/office/drawing/2014/main" id="{CBC3345A-9260-4680-A6A9-CA3832BF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8B8B8B"/>
                </a:solidFill>
                <a:latin typeface="Arimo Bold"/>
                <a:ea typeface="Arimo Bold"/>
                <a:cs typeface="Arimo Bold"/>
              </a:rPr>
              <a:t>비교 결과</a:t>
            </a:r>
          </a:p>
        </p:txBody>
      </p:sp>
      <p:sp>
        <p:nvSpPr>
          <p:cNvPr id="6" name="nav-5">
            <a:extLst xmlns:a="http://schemas.openxmlformats.org/drawingml/2006/main">
              <a:ext uri="{FF2B5EF4-FFF2-40B4-BE49-F238E27FC236}">
                <a16:creationId xmlns:a16="http://schemas.microsoft.com/office/drawing/2014/main" id="{34B2E9B0-E351-403B-8937-48C13E37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"/>
            <a:ext cx="1390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335ACF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1800" b="1">
                <a:solidFill>
                  <a:srgbClr val="335ACF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1800" b="1">
                <a:solidFill>
                  <a:srgbClr val="335ACF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1800" b="1">
                <a:solidFill>
                  <a:srgbClr val="335ACF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1800" b="1">
                <a:solidFill>
                  <a:srgbClr val="335ACF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1800" b="1">
                <a:solidFill>
                  <a:srgbClr val="335ACF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1800" b="1">
                <a:solidFill>
                  <a:srgbClr val="335ACF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1800" b="1">
                <a:solidFill>
                  <a:srgbClr val="335ACF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1800" b="1">
                <a:solidFill>
                  <a:srgbClr val="335ACF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1800" b="1">
                <a:solidFill>
                  <a:srgbClr val="335ACF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35ACF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335ACF"/>
                </a:solidFill>
                <a:latin typeface="Arimo Bold"/>
                <a:ea typeface="Arimo Bold"/>
                <a:cs typeface="Arimo Bold"/>
              </a:rPr>
              <a:t>결론·과제</a:t>
            </a:r>
          </a:p>
        </p:txBody>
      </p:sp>
      <p:sp>
        <p:nvSpPr>
          <p:cNvPr id="7" name="nav-active">
            <a:extLst xmlns:a="http://schemas.openxmlformats.org/drawingml/2006/main">
              <a:ext uri="{FF2B5EF4-FFF2-40B4-BE49-F238E27FC236}">
                <a16:creationId xmlns:a16="http://schemas.microsoft.com/office/drawing/2014/main" id="{8F3DD506-503A-45A4-BF3A-1E1F1602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4825"/>
            <a:ext cx="1019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35ACF"/>
            </a:solidFill>
          </a:ln>
        </p:spPr>
      </p:sp>
      <p:sp>
        <p:nvSpPr>
          <p:cNvPr id="8" name="competition">
            <a:extLst xmlns:a="http://schemas.openxmlformats.org/drawingml/2006/main">
              <a:ext uri="{FF2B5EF4-FFF2-40B4-BE49-F238E27FC236}">
                <a16:creationId xmlns:a16="http://schemas.microsoft.com/office/drawing/2014/main" id="{0E6D1F3B-6115-48ED-887C-EA57FAA6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19075"/>
            <a:ext cx="5476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defPPr>
            <a:lvl1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1pPr>
            <a:lvl2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2pPr>
            <a:lvl3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3pPr>
            <a:lvl4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4pPr>
            <a:lvl5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5pPr>
            <a:lvl6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6pPr>
            <a:lvl7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7pPr>
            <a:lvl8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8pPr>
            <a:lvl9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r">
              <a:buNone/>
              <a:defRPr sz="1598" b="0">
                <a:solidFill>
                  <a:srgbClr val="68768D"/>
                </a:solidFill>
                <a:latin typeface="Arimo"/>
                <a:ea typeface="Arimo"/>
                <a:cs typeface="Arimo"/>
              </a:defRPr>
            </a:pPr>
            <a:r>
              <a:rPr sz="1598" b="0">
                <a:solidFill>
                  <a:srgbClr val="68768D"/>
                </a:solidFill>
                <a:latin typeface="Arimo"/>
                <a:ea typeface="Arimo"/>
                <a:cs typeface="Arimo"/>
              </a:rPr>
              <a:t>2026 제22회 한국대학생 산업공학 프로젝트경진대회</a:t>
            </a:r>
          </a:p>
        </p:txBody>
      </p:sp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C011A63B-18A3-4EED-9E2A-FD1961C1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55FF"/>
            </a:solidFill>
          </a:ln>
        </p:spPr>
      </p:sp>
      <p:sp>
        <p:nvSpPr>
          <p:cNvPr id="10" name="bottom-rule">
            <a:extLst xmlns:a="http://schemas.openxmlformats.org/drawingml/2006/main">
              <a:ext uri="{FF2B5EF4-FFF2-40B4-BE49-F238E27FC236}">
                <a16:creationId xmlns:a16="http://schemas.microsoft.com/office/drawing/2014/main" id="{4C85E171-4BD0-4572-8F4B-73A524B1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0"/>
            <a:ext cx="1752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55FF"/>
            </a:solidFill>
          </a:ln>
        </p:spPr>
      </p:sp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706DD09-3E3D-48DF-974D-669B84BE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62025"/>
            <a:ext cx="16611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400" b="1">
                <a:solidFill>
                  <a:srgbClr val="1F2020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4400" b="1">
                <a:solidFill>
                  <a:srgbClr val="1F2020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4400" b="1">
                <a:solidFill>
                  <a:srgbClr val="1F2020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4400" b="1">
                <a:solidFill>
                  <a:srgbClr val="1F2020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4400" b="1">
                <a:solidFill>
                  <a:srgbClr val="1F2020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4400" b="1">
                <a:solidFill>
                  <a:srgbClr val="1F2020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4400" b="1">
                <a:solidFill>
                  <a:srgbClr val="1F2020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4400" b="1">
                <a:solidFill>
                  <a:srgbClr val="1F2020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4400" b="1">
                <a:solidFill>
                  <a:srgbClr val="1F2020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4400" b="1">
                <a:solidFill>
                  <a:srgbClr val="1F2020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4400" b="1">
                <a:solidFill>
                  <a:srgbClr val="1F2020"/>
                </a:solidFill>
                <a:latin typeface="Arimo Bold"/>
                <a:ea typeface="Arimo Bold"/>
                <a:cs typeface="Arimo Bold"/>
              </a:defRPr>
            </a:pPr>
            <a:r>
              <a:rPr sz="4400" b="1">
                <a:solidFill>
                  <a:srgbClr val="1F2020"/>
                </a:solidFill>
                <a:latin typeface="Arimo Bold"/>
                <a:ea typeface="Arimo Bold"/>
                <a:cs typeface="Arimo Bold"/>
              </a:rPr>
              <a:t>결론: 기기 특성을 반영한 AI 배정 정책 설계·학습</a:t>
            </a:r>
          </a:p>
        </p:txBody>
      </p:sp>
      <p:sp>
        <p:nvSpPr>
          <p:cNvPr id="12" name="subtitle">
            <a:extLst xmlns:a="http://schemas.openxmlformats.org/drawingml/2006/main">
              <a:ext uri="{FF2B5EF4-FFF2-40B4-BE49-F238E27FC236}">
                <a16:creationId xmlns:a16="http://schemas.microsoft.com/office/drawing/2014/main" id="{4C75CE20-6570-4EAC-99AA-292EC8C1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661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13" b="0">
                <a:solidFill>
                  <a:srgbClr val="545454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213" b="0">
                <a:solidFill>
                  <a:srgbClr val="545454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213" b="0">
                <a:solidFill>
                  <a:srgbClr val="545454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213" b="0">
                <a:solidFill>
                  <a:srgbClr val="545454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213" b="0">
                <a:solidFill>
                  <a:srgbClr val="545454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213" b="0">
                <a:solidFill>
                  <a:srgbClr val="545454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213" b="0">
                <a:solidFill>
                  <a:srgbClr val="545454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213" b="0">
                <a:solidFill>
                  <a:srgbClr val="545454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213" b="0">
                <a:solidFill>
                  <a:srgbClr val="545454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213" b="0">
                <a:solidFill>
                  <a:srgbClr val="545454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213" b="0">
                <a:solidFill>
                  <a:srgbClr val="545454"/>
                </a:solidFill>
                <a:latin typeface="Arimo"/>
                <a:ea typeface="Arimo"/>
                <a:cs typeface="Arimo"/>
              </a:defRPr>
            </a:pPr>
            <a:r>
              <a:rPr sz="2213" b="0">
                <a:solidFill>
                  <a:srgbClr val="545454"/>
                </a:solidFill>
                <a:latin typeface="Arimo"/>
                <a:ea typeface="Arimo"/>
                <a:cs typeface="Arimo"/>
              </a:rPr>
              <a:t>실측에서 확인한 기기별 차이를 정책에 반영하고, 시뮬레이션에서 기한 준수와 소비·온도를 함께 비교했습니다.</a:t>
            </a:r>
          </a:p>
        </p:txBody>
      </p:sp>
      <p:sp>
        <p:nvSpPr>
          <p:cNvPr id="13" name="original-left-1">
            <a:extLst xmlns:a="http://schemas.openxmlformats.org/drawingml/2006/main">
              <a:ext uri="{FF2B5EF4-FFF2-40B4-BE49-F238E27FC236}">
                <a16:creationId xmlns:a16="http://schemas.microsoft.com/office/drawing/2014/main" id="{9D3C6A05-9AF8-4D4A-BE4D-1CC51120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324" y="2396109"/>
            <a:ext cx="10191179" cy="1669161"/>
          </a:xfrm>
          <a:prstGeom xmlns:a="http://schemas.openxmlformats.org/drawingml/2006/main" prst="roundRect">
            <a:avLst>
              <a:gd name="adj" fmla="val 14266"/>
            </a:avLst>
          </a:prstGeom>
          <a:solidFill xmlns:a="http://schemas.openxmlformats.org/drawingml/2006/main">
            <a:srgbClr val="F1F3FC"/>
          </a:solidFill>
          <a:ln xmlns:a="http://schemas.openxmlformats.org/drawingml/2006/main" w="0">
            <a:noFill/>
          </a:ln>
        </p:spPr>
      </p:sp>
      <p:sp>
        <p:nvSpPr>
          <p:cNvPr id="14" name="left-1-heading">
            <a:extLst xmlns:a="http://schemas.openxmlformats.org/drawingml/2006/main">
              <a:ext uri="{FF2B5EF4-FFF2-40B4-BE49-F238E27FC236}">
                <a16:creationId xmlns:a16="http://schemas.microsoft.com/office/drawing/2014/main" id="{7DD2DF73-330E-4188-BEBB-8D9AA1CB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71750"/>
            <a:ext cx="9686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pPr>
            <a:r>
              <a: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rPr>
              <a:t>① 실측에서 확인한 기기별 차이</a:t>
            </a:r>
          </a:p>
        </p:txBody>
      </p:sp>
      <p:sp>
        <p:nvSpPr>
          <p:cNvPr id="15" name="left-1-line1">
            <a:extLst xmlns:a="http://schemas.openxmlformats.org/drawingml/2006/main">
              <a:ext uri="{FF2B5EF4-FFF2-40B4-BE49-F238E27FC236}">
                <a16:creationId xmlns:a16="http://schemas.microsoft.com/office/drawing/2014/main" id="{847B9C50-CE5D-484D-BB67-1B09035E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43250"/>
            <a:ext cx="963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pPr>
            <a:r>
              <a:rPr sz="2325" b="0">
                <a:solidFill>
                  <a:srgbClr val="1C1C1C"/>
                </a:solidFill>
                <a:latin typeface="Arimo"/>
                <a:ea typeface="Arimo"/>
                <a:cs typeface="Arimo"/>
              </a:rPr>
              <a:t>· 같은 작업도 기기마다 처리시간·소비·온도 반응이 다름</a:t>
            </a:r>
          </a:p>
        </p:txBody>
      </p:sp>
      <p:sp>
        <p:nvSpPr>
          <p:cNvPr id="16" name="left-1-line2">
            <a:extLst xmlns:a="http://schemas.openxmlformats.org/drawingml/2006/main">
              <a:ext uri="{FF2B5EF4-FFF2-40B4-BE49-F238E27FC236}">
                <a16:creationId xmlns:a16="http://schemas.microsoft.com/office/drawing/2014/main" id="{F461F465-0F1B-4448-B071-EB0FC7B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62350"/>
            <a:ext cx="963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pPr>
            <a:r>
              <a:rPr sz="2325" b="0">
                <a:solidFill>
                  <a:srgbClr val="1C1C1C"/>
                </a:solidFill>
                <a:latin typeface="Arimo"/>
                <a:ea typeface="Arimo"/>
                <a:cs typeface="Arimo"/>
              </a:rPr>
              <a:t>· 실측 자료로 기기별 모형을 구성해 배정 정책 비교에 활용</a:t>
            </a:r>
          </a:p>
        </p:txBody>
      </p:sp>
      <p:sp>
        <p:nvSpPr>
          <p:cNvPr id="17" name="original-left-2">
            <a:extLst xmlns:a="http://schemas.openxmlformats.org/drawingml/2006/main">
              <a:ext uri="{FF2B5EF4-FFF2-40B4-BE49-F238E27FC236}">
                <a16:creationId xmlns:a16="http://schemas.microsoft.com/office/drawing/2014/main" id="{EE375687-0B46-41F6-BC2A-1D1AA4CD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50" y="4274820"/>
            <a:ext cx="10191083" cy="1874234"/>
          </a:xfrm>
          <a:prstGeom xmlns:a="http://schemas.openxmlformats.org/drawingml/2006/main" prst="roundRect">
            <a:avLst>
              <a:gd name="adj" fmla="val 12705"/>
            </a:avLst>
          </a:prstGeom>
          <a:solidFill xmlns:a="http://schemas.openxmlformats.org/drawingml/2006/main">
            <a:srgbClr val="3457DF"/>
          </a:solidFill>
          <a:ln xmlns:a="http://schemas.openxmlformats.org/drawingml/2006/main" w="0">
            <a:noFill/>
          </a:ln>
        </p:spPr>
      </p:sp>
      <p:sp>
        <p:nvSpPr>
          <p:cNvPr id="18" name="left-2-heading">
            <a:extLst xmlns:a="http://schemas.openxmlformats.org/drawingml/2006/main">
              <a:ext uri="{FF2B5EF4-FFF2-40B4-BE49-F238E27FC236}">
                <a16:creationId xmlns:a16="http://schemas.microsoft.com/office/drawing/2014/main" id="{48917469-6EBB-47AD-9D7D-71E7CAC4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19600"/>
            <a:ext cx="969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13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2513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2513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2513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2513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2513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2513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2513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2513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2513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2513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pPr>
            <a:r>
              <a:rPr sz="2513" b="1">
                <a:solidFill>
                  <a:srgbClr val="FFFFFF"/>
                </a:solidFill>
                <a:latin typeface="Arimo Bold"/>
                <a:ea typeface="Arimo Bold"/>
                <a:cs typeface="Arimo Bold"/>
              </a:rPr>
              <a:t>② 시뮬레이션에서 확인한 성과 [롤링+ATC+BC]</a:t>
            </a:r>
          </a:p>
        </p:txBody>
      </p:sp>
      <p:sp>
        <p:nvSpPr>
          <p:cNvPr id="19" name="left-2-s26">
            <a:extLst xmlns:a="http://schemas.openxmlformats.org/drawingml/2006/main">
              <a:ext uri="{FF2B5EF4-FFF2-40B4-BE49-F238E27FC236}">
                <a16:creationId xmlns:a16="http://schemas.microsoft.com/office/drawing/2014/main" id="{7D61625F-FD64-4FC8-982B-FBD863B0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72050"/>
            <a:ext cx="963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pPr>
            <a:r>
              <a:rPr sz="2288" b="0">
                <a:solidFill>
                  <a:srgbClr val="FFFFFF"/>
                </a:solidFill>
                <a:latin typeface="Arimo"/>
                <a:ea typeface="Arimo"/>
                <a:cs typeface="Arimo"/>
              </a:rPr>
              <a:t>· S26: 긴급 정시 100%, 소비 −8.5% · 온도 −0.87℃</a:t>
            </a:r>
          </a:p>
        </p:txBody>
      </p:sp>
      <p:sp>
        <p:nvSpPr>
          <p:cNvPr id="20" name="left-2-a24">
            <a:extLst xmlns:a="http://schemas.openxmlformats.org/drawingml/2006/main">
              <a:ext uri="{FF2B5EF4-FFF2-40B4-BE49-F238E27FC236}">
                <a16:creationId xmlns:a16="http://schemas.microsoft.com/office/drawing/2014/main" id="{FFD4338A-6A47-42C0-B9FB-317D303D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381625"/>
            <a:ext cx="963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2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pPr>
            <a:r>
              <a:rPr sz="2288" b="0">
                <a:solidFill>
                  <a:srgbClr val="FFFFFF"/>
                </a:solidFill>
                <a:latin typeface="Arimo"/>
                <a:ea typeface="Arimo"/>
                <a:cs typeface="Arimo"/>
              </a:rPr>
              <a:t>· A24: 긴급 정시 100%, 소비 −1.32% · 온도 −0.29℃</a:t>
            </a:r>
          </a:p>
        </p:txBody>
      </p:sp>
      <p:sp>
        <p:nvSpPr>
          <p:cNvPr id="21" name="left-2-scope">
            <a:extLst xmlns:a="http://schemas.openxmlformats.org/drawingml/2006/main">
              <a:ext uri="{FF2B5EF4-FFF2-40B4-BE49-F238E27FC236}">
                <a16:creationId xmlns:a16="http://schemas.microsoft.com/office/drawing/2014/main" id="{8E9321D3-A341-4870-835A-F20C4ECF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781675"/>
            <a:ext cx="963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19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19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19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19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19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19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19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19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19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1988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pPr>
            <a:r>
              <a:rPr sz="1988" b="0">
                <a:solidFill>
                  <a:srgbClr val="FFFFFF"/>
                </a:solidFill>
                <a:latin typeface="Arimo"/>
                <a:ea typeface="Arimo"/>
                <a:cs typeface="Arimo"/>
              </a:rPr>
              <a:t>소비·평균 AP 온도는 FIFO 대비 / S26 긴급 응답 지연은 증가</a:t>
            </a:r>
          </a:p>
        </p:txBody>
      </p:sp>
      <p:sp>
        <p:nvSpPr>
          <p:cNvPr id="22" name="original-left-3">
            <a:extLst xmlns:a="http://schemas.openxmlformats.org/drawingml/2006/main">
              <a:ext uri="{FF2B5EF4-FFF2-40B4-BE49-F238E27FC236}">
                <a16:creationId xmlns:a16="http://schemas.microsoft.com/office/drawing/2014/main" id="{90CACEA6-A9DC-4F25-8A8A-38D498F0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50" y="6282404"/>
            <a:ext cx="10191179" cy="2296573"/>
          </a:xfrm>
          <a:prstGeom xmlns:a="http://schemas.openxmlformats.org/drawingml/2006/main" prst="roundRect">
            <a:avLst>
              <a:gd name="adj" fmla="val 103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6670">
            <a:solidFill>
              <a:srgbClr val="3457DF"/>
            </a:solidFill>
          </a:ln>
        </p:spPr>
      </p:sp>
      <p:sp>
        <p:nvSpPr>
          <p:cNvPr id="23" name="left-3-heading">
            <a:extLst xmlns:a="http://schemas.openxmlformats.org/drawingml/2006/main">
              <a:ext uri="{FF2B5EF4-FFF2-40B4-BE49-F238E27FC236}">
                <a16:creationId xmlns:a16="http://schemas.microsoft.com/office/drawing/2014/main" id="{8F3F503B-0B30-4556-B928-F7900E01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438900"/>
            <a:ext cx="969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pPr>
            <a:r>
              <a: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rPr>
              <a:t>③ 정책 설계에서 얻은 시사점</a:t>
            </a:r>
          </a:p>
        </p:txBody>
      </p:sp>
      <p:sp>
        <p:nvSpPr>
          <p:cNvPr id="24" name="left-3-line0">
            <a:extLst xmlns:a="http://schemas.openxmlformats.org/drawingml/2006/main">
              <a:ext uri="{FF2B5EF4-FFF2-40B4-BE49-F238E27FC236}">
                <a16:creationId xmlns:a16="http://schemas.microsoft.com/office/drawing/2014/main" id="{850B721A-B1CF-4757-B9E9-A4E16694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991350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pPr>
            <a:r>
              <a:rPr sz="2213" b="0">
                <a:solidFill>
                  <a:srgbClr val="1E3C90"/>
                </a:solidFill>
                <a:latin typeface="Arimo"/>
                <a:ea typeface="Arimo"/>
                <a:cs typeface="Arimo"/>
              </a:rPr>
              <a:t>· 기기별 교사 규칙을 만들고 BC로 그 판단을 학습</a:t>
            </a:r>
          </a:p>
        </p:txBody>
      </p:sp>
      <p:sp>
        <p:nvSpPr>
          <p:cNvPr id="25" name="left-3-line1">
            <a:extLst xmlns:a="http://schemas.openxmlformats.org/drawingml/2006/main">
              <a:ext uri="{FF2B5EF4-FFF2-40B4-BE49-F238E27FC236}">
                <a16:creationId xmlns:a16="http://schemas.microsoft.com/office/drawing/2014/main" id="{14D8703A-5A56-47D7-8408-04559107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7353300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pPr>
            <a:r>
              <a:rPr sz="2213" b="0">
                <a:solidFill>
                  <a:srgbClr val="1E3C90"/>
                </a:solidFill>
                <a:latin typeface="Arimo"/>
                <a:ea typeface="Arimo"/>
                <a:cs typeface="Arimo"/>
              </a:rPr>
              <a:t>· 롤링·ATC로 기한과 배정 이후의 영향을 반영</a:t>
            </a:r>
          </a:p>
        </p:txBody>
      </p:sp>
      <p:sp>
        <p:nvSpPr>
          <p:cNvPr id="26" name="left-3-line2">
            <a:extLst xmlns:a="http://schemas.openxmlformats.org/drawingml/2006/main">
              <a:ext uri="{FF2B5EF4-FFF2-40B4-BE49-F238E27FC236}">
                <a16:creationId xmlns:a16="http://schemas.microsoft.com/office/drawing/2014/main" id="{4D57DF6C-F092-4B1E-8EA6-F62C209A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7715250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213" b="0">
                <a:solidFill>
                  <a:srgbClr val="1E3C90"/>
                </a:solidFill>
                <a:latin typeface="Arimo"/>
                <a:ea typeface="Arimo"/>
                <a:cs typeface="Arimo"/>
              </a:defRPr>
            </a:pPr>
            <a:r>
              <a:rPr sz="2213" b="0">
                <a:solidFill>
                  <a:srgbClr val="1E3C90"/>
                </a:solidFill>
                <a:latin typeface="Arimo"/>
                <a:ea typeface="Arimo"/>
                <a:cs typeface="Arimo"/>
              </a:rPr>
              <a:t>· 효과는 기기·부하·작업 구성에 따라 달라짐</a:t>
            </a:r>
          </a:p>
        </p:txBody>
      </p:sp>
      <p:sp>
        <p:nvSpPr>
          <p:cNvPr id="27" name="left-3-line3">
            <a:extLst xmlns:a="http://schemas.openxmlformats.org/drawingml/2006/main">
              <a:ext uri="{FF2B5EF4-FFF2-40B4-BE49-F238E27FC236}">
                <a16:creationId xmlns:a16="http://schemas.microsoft.com/office/drawing/2014/main" id="{2522C7EE-79F3-41E3-94F7-96ED2403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8077200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13" b="1">
                <a:solidFill>
                  <a:srgbClr val="1E3C90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2213" b="1">
                <a:solidFill>
                  <a:srgbClr val="1E3C90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2213" b="1">
                <a:solidFill>
                  <a:srgbClr val="1E3C90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2213" b="1">
                <a:solidFill>
                  <a:srgbClr val="1E3C90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2213" b="1">
                <a:solidFill>
                  <a:srgbClr val="1E3C90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2213" b="1">
                <a:solidFill>
                  <a:srgbClr val="1E3C90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2213" b="1">
                <a:solidFill>
                  <a:srgbClr val="1E3C90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2213" b="1">
                <a:solidFill>
                  <a:srgbClr val="1E3C90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2213" b="1">
                <a:solidFill>
                  <a:srgbClr val="1E3C90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2213" b="1">
                <a:solidFill>
                  <a:srgbClr val="1E3C90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2213" b="1">
                <a:solidFill>
                  <a:srgbClr val="1E3C90"/>
                </a:solidFill>
                <a:latin typeface="Arimo Bold"/>
                <a:ea typeface="Arimo Bold"/>
                <a:cs typeface="Arimo Bold"/>
              </a:defRPr>
            </a:pPr>
            <a:r>
              <a:rPr sz="2213" b="1">
                <a:solidFill>
                  <a:srgbClr val="1E3C90"/>
                </a:solidFill>
                <a:latin typeface="Arimo Bold"/>
                <a:ea typeface="Arimo Bold"/>
                <a:cs typeface="Arimo Bold"/>
              </a:rPr>
              <a:t>· 기한 준수와 응답속도·소비·온도를 함께 판단</a:t>
            </a:r>
          </a:p>
        </p:txBody>
      </p:sp>
      <p:sp>
        <p:nvSpPr>
          <p:cNvPr id="28" name="original-use-heading">
            <a:extLst xmlns:a="http://schemas.openxmlformats.org/drawingml/2006/main">
              <a:ext uri="{FF2B5EF4-FFF2-40B4-BE49-F238E27FC236}">
                <a16:creationId xmlns:a16="http://schemas.microsoft.com/office/drawing/2014/main" id="{58061F67-F671-476F-8AB9-D252AF85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447925"/>
            <a:ext cx="622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defRPr>
            </a:pPr>
            <a:r>
              <a:rPr sz="2550" b="1">
                <a:solidFill>
                  <a:srgbClr val="3457DF"/>
                </a:solidFill>
                <a:latin typeface="Arimo Bold"/>
                <a:ea typeface="Arimo Bold"/>
                <a:cs typeface="Arimo Bold"/>
              </a:rPr>
              <a:t>활용 방안</a:t>
            </a:r>
          </a:p>
        </p:txBody>
      </p:sp>
      <p:sp>
        <p:nvSpPr>
          <p:cNvPr id="29" name="original-stage-0">
            <a:extLst xmlns:a="http://schemas.openxmlformats.org/drawingml/2006/main">
              <a:ext uri="{FF2B5EF4-FFF2-40B4-BE49-F238E27FC236}">
                <a16:creationId xmlns:a16="http://schemas.microsoft.com/office/drawing/2014/main" id="{9233B749-1D14-4B2B-B070-0A33F3E8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1117" y="2924651"/>
            <a:ext cx="1833372" cy="1489996"/>
          </a:xfrm>
          <a:prstGeom xmlns:a="http://schemas.openxmlformats.org/drawingml/2006/main" prst="roundRect">
            <a:avLst>
              <a:gd name="adj" fmla="val 11507"/>
            </a:avLst>
          </a:prstGeom>
          <a:solidFill xmlns:a="http://schemas.openxmlformats.org/drawingml/2006/main">
            <a:srgbClr val="F1F3FC"/>
          </a:solidFill>
          <a:ln xmlns:a="http://schemas.openxmlformats.org/drawingml/2006/main" w="0">
            <a:noFill/>
          </a:ln>
        </p:spPr>
      </p:sp>
      <p:sp>
        <p:nvSpPr>
          <p:cNvPr id="30" name="stage-number-0">
            <a:extLst xmlns:a="http://schemas.openxmlformats.org/drawingml/2006/main">
              <a:ext uri="{FF2B5EF4-FFF2-40B4-BE49-F238E27FC236}">
                <a16:creationId xmlns:a16="http://schemas.microsoft.com/office/drawing/2014/main" id="{8BE1AA1A-DA37-4C51-92D9-ADA32E05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267" y="3019425"/>
            <a:ext cx="171907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defPPr>
            <a:lvl1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1pPr>
            <a:lvl2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2pPr>
            <a:lvl3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3pPr>
            <a:lvl4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4pPr>
            <a:lvl5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5pPr>
            <a:lvl6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6pPr>
            <a:lvl7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7pPr>
            <a:lvl8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8pPr>
            <a:lvl9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pPr>
            <a:r>
              <a:rPr sz="2400" b="0">
                <a:solidFill>
                  <a:srgbClr val="3457DF"/>
                </a:solidFill>
                <a:latin typeface="Arimo"/>
                <a:ea typeface="Arimo"/>
                <a:cs typeface="Arimo"/>
              </a:rPr>
              <a:t>①</a:t>
            </a:r>
          </a:p>
        </p:txBody>
      </p:sp>
      <p:sp>
        <p:nvSpPr>
          <p:cNvPr id="31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A543AE2C-06CC-4349-B4B0-A661938F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267" y="3514725"/>
            <a:ext cx="171907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defPPr>
            <a:lvl1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1pPr>
            <a:lvl2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2pPr>
            <a:lvl3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3pPr>
            <a:lvl4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4pPr>
            <a:lvl5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5pPr>
            <a:lvl6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6pPr>
            <a:lvl7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7pPr>
            <a:lvl8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8pPr>
            <a:lvl9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pPr>
            <a:r>
              <a: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rPr>
              <a:t>기기 측정</a:t>
            </a:r>
          </a:p>
        </p:txBody>
      </p:sp>
      <p:sp>
        <p:nvSpPr>
          <p:cNvPr id="32" name="stage-sub-0">
            <a:extLst xmlns:a="http://schemas.openxmlformats.org/drawingml/2006/main">
              <a:ext uri="{FF2B5EF4-FFF2-40B4-BE49-F238E27FC236}">
                <a16:creationId xmlns:a16="http://schemas.microsoft.com/office/drawing/2014/main" id="{0412FE71-88B0-46F1-BC28-CF41B785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267" y="3990975"/>
            <a:ext cx="171907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defPPr>
            <a:lvl1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1pPr>
            <a:lvl2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2pPr>
            <a:lvl3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3pPr>
            <a:lvl4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4pPr>
            <a:lvl5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5pPr>
            <a:lvl6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6pPr>
            <a:lvl7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7pPr>
            <a:lvl8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8pPr>
            <a:lvl9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pPr>
            <a:r>
              <a:rPr sz="1650" b="0">
                <a:solidFill>
                  <a:srgbClr val="777777"/>
                </a:solidFill>
                <a:latin typeface="Arimo"/>
                <a:ea typeface="Arimo"/>
                <a:cs typeface="Arimo"/>
              </a:rPr>
              <a:t>속도·소비·열</a:t>
            </a:r>
          </a:p>
        </p:txBody>
      </p:sp>
      <p:sp>
        <p:nvSpPr>
          <p:cNvPr id="33" name="original-stage-1">
            <a:extLst xmlns:a="http://schemas.openxmlformats.org/drawingml/2006/main">
              <a:ext uri="{FF2B5EF4-FFF2-40B4-BE49-F238E27FC236}">
                <a16:creationId xmlns:a16="http://schemas.microsoft.com/office/drawing/2014/main" id="{50F3B3EE-7430-474E-88F3-AD348833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2924651"/>
            <a:ext cx="1804321" cy="1489996"/>
          </a:xfrm>
          <a:prstGeom xmlns:a="http://schemas.openxmlformats.org/drawingml/2006/main" prst="roundRect">
            <a:avLst>
              <a:gd name="adj" fmla="val 11507"/>
            </a:avLst>
          </a:prstGeom>
          <a:solidFill xmlns:a="http://schemas.openxmlformats.org/drawingml/2006/main">
            <a:srgbClr val="F1F3FC"/>
          </a:solidFill>
          <a:ln xmlns:a="http://schemas.openxmlformats.org/drawingml/2006/main" w="0">
            <a:noFill/>
          </a:ln>
        </p:spPr>
      </p:sp>
      <p:sp>
        <p:nvSpPr>
          <p:cNvPr id="34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E81FB8CB-5E3F-40D8-AB2A-D07F0CF8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3019425"/>
            <a:ext cx="1690021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defPPr>
            <a:lvl1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1pPr>
            <a:lvl2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2pPr>
            <a:lvl3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3pPr>
            <a:lvl4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4pPr>
            <a:lvl5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5pPr>
            <a:lvl6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6pPr>
            <a:lvl7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7pPr>
            <a:lvl8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8pPr>
            <a:lvl9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ctr">
              <a:buNone/>
              <a:defRPr sz="2400" b="0">
                <a:solidFill>
                  <a:srgbClr val="3457DF"/>
                </a:solidFill>
                <a:latin typeface="Arimo"/>
                <a:ea typeface="Arimo"/>
                <a:cs typeface="Arimo"/>
              </a:defRPr>
            </a:pPr>
            <a:r>
              <a:rPr sz="2400" b="0">
                <a:solidFill>
                  <a:srgbClr val="3457DF"/>
                </a:solidFill>
                <a:latin typeface="Arimo"/>
                <a:ea typeface="Arimo"/>
                <a:cs typeface="Arimo"/>
              </a:rPr>
              <a:t>②</a:t>
            </a:r>
          </a:p>
        </p:txBody>
      </p:sp>
      <p:sp>
        <p:nvSpPr>
          <p:cNvPr id="35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E45EF9DC-A2DF-427B-A3FC-EC5E4736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3514725"/>
            <a:ext cx="1690021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defPPr>
            <a:lvl1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1pPr>
            <a:lvl2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2pPr>
            <a:lvl3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3pPr>
            <a:lvl4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4pPr>
            <a:lvl5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5pPr>
            <a:lvl6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6pPr>
            <a:lvl7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7pPr>
            <a:lvl8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8pPr>
            <a:lvl9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pPr>
            <a:r>
              <a:rPr sz="2175" b="1">
                <a:solidFill>
                  <a:srgbClr val="1C1C1C"/>
                </a:solidFill>
                <a:latin typeface="Arimo Bold"/>
                <a:ea typeface="Arimo Bold"/>
                <a:cs typeface="Arimo Bold"/>
              </a:rPr>
              <a:t>정책 설계</a:t>
            </a:r>
          </a:p>
        </p:txBody>
      </p:sp>
      <p:sp>
        <p:nvSpPr>
          <p:cNvPr id="36" name="stage-sub-1">
            <a:extLst xmlns:a="http://schemas.openxmlformats.org/drawingml/2006/main">
              <a:ext uri="{FF2B5EF4-FFF2-40B4-BE49-F238E27FC236}">
                <a16:creationId xmlns:a16="http://schemas.microsoft.com/office/drawing/2014/main" id="{C55EC6D8-1387-431D-B6F3-CFB20D00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3990975"/>
            <a:ext cx="169002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defPPr>
            <a:lvl1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1pPr>
            <a:lvl2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2pPr>
            <a:lvl3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3pPr>
            <a:lvl4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4pPr>
            <a:lvl5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5pPr>
            <a:lvl6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6pPr>
            <a:lvl7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7pPr>
            <a:lvl8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8pPr>
            <a:lvl9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pPr>
            <a:r>
              <a:rPr sz="1650" b="0">
                <a:solidFill>
                  <a:srgbClr val="777777"/>
                </a:solidFill>
                <a:latin typeface="Arimo"/>
                <a:ea typeface="Arimo"/>
                <a:cs typeface="Arimo"/>
              </a:rPr>
              <a:t>교사 규칙·BC</a:t>
            </a:r>
          </a:p>
        </p:txBody>
      </p:sp>
      <p:sp>
        <p:nvSpPr>
          <p:cNvPr id="37" name="original-stage-2">
            <a:extLst xmlns:a="http://schemas.openxmlformats.org/drawingml/2006/main">
              <a:ext uri="{FF2B5EF4-FFF2-40B4-BE49-F238E27FC236}">
                <a16:creationId xmlns:a16="http://schemas.microsoft.com/office/drawing/2014/main" id="{5CC499F4-ECB5-40AF-91F5-497FCD5F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330" y="2924651"/>
            <a:ext cx="1862614" cy="1489996"/>
          </a:xfrm>
          <a:prstGeom xmlns:a="http://schemas.openxmlformats.org/drawingml/2006/main" prst="roundRect">
            <a:avLst>
              <a:gd name="adj" fmla="val 11507"/>
            </a:avLst>
          </a:prstGeom>
          <a:solidFill xmlns:a="http://schemas.openxmlformats.org/drawingml/2006/main">
            <a:srgbClr val="3457DF"/>
          </a:solidFill>
          <a:ln xmlns:a="http://schemas.openxmlformats.org/drawingml/2006/main" w="0">
            <a:noFill/>
          </a:ln>
        </p:spPr>
      </p:sp>
      <p:sp>
        <p:nvSpPr>
          <p:cNvPr id="38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E5933312-ECCC-4936-A93D-4F85784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480" y="3019425"/>
            <a:ext cx="1748314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defPPr>
            <a:lvl1pPr algn="ctr">
              <a:buNone/>
              <a:defRPr sz="240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1pPr>
            <a:lvl2pPr algn="ctr">
              <a:buNone/>
              <a:defRPr sz="240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2pPr>
            <a:lvl3pPr algn="ctr">
              <a:buNone/>
              <a:defRPr sz="240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3pPr>
            <a:lvl4pPr algn="ctr">
              <a:buNone/>
              <a:defRPr sz="240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4pPr>
            <a:lvl5pPr algn="ctr">
              <a:buNone/>
              <a:defRPr sz="240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5pPr>
            <a:lvl6pPr algn="ctr">
              <a:buNone/>
              <a:defRPr sz="240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6pPr>
            <a:lvl7pPr algn="ctr">
              <a:buNone/>
              <a:defRPr sz="240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7pPr>
            <a:lvl8pPr algn="ctr">
              <a:buNone/>
              <a:defRPr sz="240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8pPr>
            <a:lvl9pPr algn="ctr">
              <a:buNone/>
              <a:defRPr sz="240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ctr">
              <a:buNone/>
              <a:defRPr sz="240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pPr>
            <a:r>
              <a:rPr sz="2400" b="0">
                <a:solidFill>
                  <a:srgbClr val="FFFFFF"/>
                </a:solidFill>
                <a:latin typeface="Arimo"/>
                <a:ea typeface="Arimo"/>
                <a:cs typeface="Arimo"/>
              </a:rPr>
              <a:t>③</a:t>
            </a:r>
          </a:p>
        </p:txBody>
      </p:sp>
      <p:sp>
        <p:nvSpPr>
          <p:cNvPr id="39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7A6E1F3B-FE95-4EE7-924D-C9D73D05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480" y="3514725"/>
            <a:ext cx="174831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defPPr>
            <a:lvl1pPr algn="ctr">
              <a:buNone/>
              <a:defRPr sz="2175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1pPr>
            <a:lvl2pPr algn="ctr">
              <a:buNone/>
              <a:defRPr sz="2175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2pPr>
            <a:lvl3pPr algn="ctr">
              <a:buNone/>
              <a:defRPr sz="2175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3pPr>
            <a:lvl4pPr algn="ctr">
              <a:buNone/>
              <a:defRPr sz="2175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4pPr>
            <a:lvl5pPr algn="ctr">
              <a:buNone/>
              <a:defRPr sz="2175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5pPr>
            <a:lvl6pPr algn="ctr">
              <a:buNone/>
              <a:defRPr sz="2175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6pPr>
            <a:lvl7pPr algn="ctr">
              <a:buNone/>
              <a:defRPr sz="2175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7pPr>
            <a:lvl8pPr algn="ctr">
              <a:buNone/>
              <a:defRPr sz="2175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8pPr>
            <a:lvl9pPr algn="ctr">
              <a:buNone/>
              <a:defRPr sz="2175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mo Bold"/>
                <a:ea typeface="Arimo Bold"/>
                <a:cs typeface="Arimo Bold"/>
              </a:defRPr>
            </a:pPr>
            <a:r>
              <a:rPr sz="2175" b="1">
                <a:solidFill>
                  <a:srgbClr val="FFFFFF"/>
                </a:solidFill>
                <a:latin typeface="Arimo Bold"/>
                <a:ea typeface="Arimo Bold"/>
                <a:cs typeface="Arimo Bold"/>
              </a:rPr>
              <a:t>성과 비교</a:t>
            </a:r>
          </a:p>
        </p:txBody>
      </p:sp>
      <p:sp>
        <p:nvSpPr>
          <p:cNvPr id="40" name="stage-sub-2">
            <a:extLst xmlns:a="http://schemas.openxmlformats.org/drawingml/2006/main">
              <a:ext uri="{FF2B5EF4-FFF2-40B4-BE49-F238E27FC236}">
                <a16:creationId xmlns:a16="http://schemas.microsoft.com/office/drawing/2014/main" id="{BA3E6E26-EB63-4932-906E-EA517CE6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480" y="3990975"/>
            <a:ext cx="174831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defPPr>
            <a:lvl1pPr algn="ctr">
              <a:buNone/>
              <a:defRPr sz="165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1pPr>
            <a:lvl2pPr algn="ctr">
              <a:buNone/>
              <a:defRPr sz="165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2pPr>
            <a:lvl3pPr algn="ctr">
              <a:buNone/>
              <a:defRPr sz="165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3pPr>
            <a:lvl4pPr algn="ctr">
              <a:buNone/>
              <a:defRPr sz="165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4pPr>
            <a:lvl5pPr algn="ctr">
              <a:buNone/>
              <a:defRPr sz="165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5pPr>
            <a:lvl6pPr algn="ctr">
              <a:buNone/>
              <a:defRPr sz="165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6pPr>
            <a:lvl7pPr algn="ctr">
              <a:buNone/>
              <a:defRPr sz="165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7pPr>
            <a:lvl8pPr algn="ctr">
              <a:buNone/>
              <a:defRPr sz="165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8pPr>
            <a:lvl9pPr algn="ctr">
              <a:buNone/>
              <a:defRPr sz="165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FFFFFF"/>
                </a:solidFill>
                <a:latin typeface="Arimo"/>
                <a:ea typeface="Arimo"/>
                <a:cs typeface="Arimo"/>
              </a:defRPr>
            </a:pPr>
            <a:r>
              <a:rPr sz="1650" b="0">
                <a:solidFill>
                  <a:srgbClr val="FFFFFF"/>
                </a:solidFill>
                <a:latin typeface="Arimo"/>
                <a:ea typeface="Arimo"/>
                <a:cs typeface="Arimo"/>
              </a:rPr>
              <a:t>기한·소비·온도</a:t>
            </a:r>
          </a:p>
        </p:txBody>
      </p:sp>
      <p:sp>
        <p:nvSpPr>
          <p:cNvPr id="41" name="original-arrow-1">
            <a:extLst xmlns:a="http://schemas.openxmlformats.org/drawingml/2006/main">
              <a:ext uri="{FF2B5EF4-FFF2-40B4-BE49-F238E27FC236}">
                <a16:creationId xmlns:a16="http://schemas.microsoft.com/office/drawing/2014/main" id="{EE1D76D6-9F8B-495C-92F5-CD24CF94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3371850"/>
            <a:ext cx="400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defPPr>
            <a:lvl1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1pPr>
            <a:lvl2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2pPr>
            <a:lvl3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3pPr>
            <a:lvl4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4pPr>
            <a:lvl5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5pPr>
            <a:lvl6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6pPr>
            <a:lvl7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7pPr>
            <a:lvl8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8pPr>
            <a:lvl9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9pPr>
          </a:lstStyle>
          <a:p xmlns:a="http://schemas.openxmlformats.org/drawingml/2006/main">
            <a: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pPr>
            <a:r>
              <a: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rPr>
              <a:t>➜</a:t>
            </a:r>
          </a:p>
        </p:txBody>
      </p:sp>
      <p:sp>
        <p:nvSpPr>
          <p:cNvPr id="42" name="original-arrow-2">
            <a:extLst xmlns:a="http://schemas.openxmlformats.org/drawingml/2006/main">
              <a:ext uri="{FF2B5EF4-FFF2-40B4-BE49-F238E27FC236}">
                <a16:creationId xmlns:a16="http://schemas.microsoft.com/office/drawing/2014/main" id="{B6A768EF-4A96-4730-9674-24490170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71850"/>
            <a:ext cx="400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defPPr>
            <a:lvl1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1pPr>
            <a:lvl2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2pPr>
            <a:lvl3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3pPr>
            <a:lvl4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4pPr>
            <a:lvl5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5pPr>
            <a:lvl6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6pPr>
            <a:lvl7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7pPr>
            <a:lvl8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8pPr>
            <a:lvl9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lvl9pPr>
          </a:lstStyle>
          <a:p xmlns:a="http://schemas.openxmlformats.org/drawingml/2006/main">
            <a:pPr algn="l">
              <a:buNone/>
              <a:def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defRPr>
            </a:pPr>
            <a:r>
              <a:rPr sz="3000" b="0">
                <a:solidFill>
                  <a:srgbClr val="3457DF"/>
                </a:solidFill>
                <a:latin typeface="Calibri (MS)"/>
                <a:ea typeface="Calibri (MS)"/>
                <a:cs typeface="Calibri (MS)"/>
              </a:rPr>
              <a:t>➜</a:t>
            </a:r>
          </a:p>
        </p:txBody>
      </p:sp>
      <p:sp>
        <p:nvSpPr>
          <p:cNvPr id="43" name="original-stage-caption">
            <a:extLst xmlns:a="http://schemas.openxmlformats.org/drawingml/2006/main">
              <a:ext uri="{FF2B5EF4-FFF2-40B4-BE49-F238E27FC236}">
                <a16:creationId xmlns:a16="http://schemas.microsoft.com/office/drawing/2014/main" id="{E6FDB4B0-CF5A-4764-A253-1DFAE229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572000"/>
            <a:ext cx="622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1875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1875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1875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1875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1875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1875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1875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1875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1875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pPr>
            <a:r>
              <a:rPr sz="1875" b="0">
                <a:solidFill>
                  <a:srgbClr val="777777"/>
                </a:solidFill>
                <a:latin typeface="Arimo"/>
                <a:ea typeface="Arimo"/>
                <a:cs typeface="Arimo"/>
              </a:rPr>
              <a:t>기기 특성에 맞춘 정책을 구성하고, 같은 요청에서 비교</a:t>
            </a:r>
          </a:p>
        </p:txBody>
      </p:sp>
      <p:sp>
        <p:nvSpPr>
          <p:cNvPr id="44" name="original-value-panel">
            <a:extLst xmlns:a="http://schemas.openxmlformats.org/drawingml/2006/main">
              <a:ext uri="{FF2B5EF4-FFF2-40B4-BE49-F238E27FC236}">
                <a16:creationId xmlns:a16="http://schemas.microsoft.com/office/drawing/2014/main" id="{8CB188CC-3FA8-4C28-B0B3-C876CBF4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1004" y="5215223"/>
            <a:ext cx="6377654" cy="3040285"/>
          </a:xfrm>
          <a:prstGeom xmlns:a="http://schemas.openxmlformats.org/drawingml/2006/main" prst="roundRect">
            <a:avLst>
              <a:gd name="adj" fmla="val 12532"/>
            </a:avLst>
          </a:prstGeom>
          <a:solidFill xmlns:a="http://schemas.openxmlformats.org/drawingml/2006/main">
            <a:srgbClr val="F1F3FC"/>
          </a:solidFill>
          <a:ln xmlns:a="http://schemas.openxmlformats.org/drawingml/2006/main" w="0">
            <a:noFill/>
          </a:ln>
        </p:spPr>
      </p:sp>
      <p:sp>
        <p:nvSpPr>
          <p:cNvPr id="45" name="original-value-heading">
            <a:extLst xmlns:a="http://schemas.openxmlformats.org/drawingml/2006/main">
              <a:ext uri="{FF2B5EF4-FFF2-40B4-BE49-F238E27FC236}">
                <a16:creationId xmlns:a16="http://schemas.microsoft.com/office/drawing/2014/main" id="{AD404786-B849-47D5-BF76-15996F1A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400675"/>
            <a:ext cx="581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defRPr>
            </a:pPr>
            <a:r>
              <a:rPr sz="2550" b="1">
                <a:solidFill>
                  <a:srgbClr val="1C1C1C"/>
                </a:solidFill>
                <a:latin typeface="Arimo Bold"/>
                <a:ea typeface="Arimo Bold"/>
                <a:cs typeface="Arimo Bold"/>
              </a:rPr>
              <a:t>연구의 의미와 활용</a:t>
            </a:r>
          </a:p>
        </p:txBody>
      </p:sp>
      <p:sp>
        <p:nvSpPr>
          <p:cNvPr id="46" name="original-value-line0">
            <a:extLst xmlns:a="http://schemas.openxmlformats.org/drawingml/2006/main">
              <a:ext uri="{FF2B5EF4-FFF2-40B4-BE49-F238E27FC236}">
                <a16:creationId xmlns:a16="http://schemas.microsoft.com/office/drawing/2014/main" id="{80D10117-3696-427A-BB70-A0FF442E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000750"/>
            <a:ext cx="580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pPr>
            <a:r>
              <a:rPr sz="2175" b="0">
                <a:solidFill>
                  <a:srgbClr val="1C1C1C"/>
                </a:solidFill>
                <a:latin typeface="Arimo"/>
                <a:ea typeface="Arimo"/>
                <a:cs typeface="Arimo"/>
              </a:rPr>
              <a:t>· 기기별 실행 특성을 반영한 정책 구성</a:t>
            </a:r>
          </a:p>
        </p:txBody>
      </p:sp>
      <p:sp>
        <p:nvSpPr>
          <p:cNvPr id="47" name="original-value-line1">
            <a:extLst xmlns:a="http://schemas.openxmlformats.org/drawingml/2006/main">
              <a:ext uri="{FF2B5EF4-FFF2-40B4-BE49-F238E27FC236}">
                <a16:creationId xmlns:a16="http://schemas.microsoft.com/office/drawing/2014/main" id="{6B4F9127-A30B-447A-84D8-0E48BE03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72225"/>
            <a:ext cx="580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pPr>
            <a:r>
              <a:rPr sz="2175" b="0">
                <a:solidFill>
                  <a:srgbClr val="1C1C1C"/>
                </a:solidFill>
                <a:latin typeface="Arimo"/>
                <a:ea typeface="Arimo"/>
                <a:cs typeface="Arimo"/>
              </a:rPr>
              <a:t>· 요청·자원·실행 시점을 함께 선택</a:t>
            </a:r>
          </a:p>
        </p:txBody>
      </p:sp>
      <p:sp>
        <p:nvSpPr>
          <p:cNvPr id="48" name="original-value-line2">
            <a:extLst xmlns:a="http://schemas.openxmlformats.org/drawingml/2006/main">
              <a:ext uri="{FF2B5EF4-FFF2-40B4-BE49-F238E27FC236}">
                <a16:creationId xmlns:a16="http://schemas.microsoft.com/office/drawing/2014/main" id="{E5EF674F-8D05-4558-AF6B-26CB94DA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743700"/>
            <a:ext cx="580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pPr>
            <a:r>
              <a:rPr sz="2175" b="0">
                <a:solidFill>
                  <a:srgbClr val="1C1C1C"/>
                </a:solidFill>
                <a:latin typeface="Arimo"/>
                <a:ea typeface="Arimo"/>
                <a:cs typeface="Arimo"/>
              </a:rPr>
              <a:t>· 같은 요청에서 배정 규칙의 효과 비교</a:t>
            </a:r>
          </a:p>
        </p:txBody>
      </p:sp>
      <p:sp>
        <p:nvSpPr>
          <p:cNvPr id="49" name="original-value-line3">
            <a:extLst xmlns:a="http://schemas.openxmlformats.org/drawingml/2006/main">
              <a:ext uri="{FF2B5EF4-FFF2-40B4-BE49-F238E27FC236}">
                <a16:creationId xmlns:a16="http://schemas.microsoft.com/office/drawing/2014/main" id="{89BFE2A4-1D30-48EA-A3E9-03BCBFC0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7115175"/>
            <a:ext cx="580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pPr>
            <a:r>
              <a:rPr sz="2175" b="0">
                <a:solidFill>
                  <a:srgbClr val="1C1C1C"/>
                </a:solidFill>
                <a:latin typeface="Arimo"/>
                <a:ea typeface="Arimo"/>
                <a:cs typeface="Arimo"/>
              </a:rPr>
              <a:t>· 서비스와 소비·온도의 이득·손해 확인</a:t>
            </a:r>
          </a:p>
        </p:txBody>
      </p:sp>
      <p:sp>
        <p:nvSpPr>
          <p:cNvPr id="50" name="original-value-line4">
            <a:extLst xmlns:a="http://schemas.openxmlformats.org/drawingml/2006/main">
              <a:ext uri="{FF2B5EF4-FFF2-40B4-BE49-F238E27FC236}">
                <a16:creationId xmlns:a16="http://schemas.microsoft.com/office/drawing/2014/main" id="{A3E38008-B75C-4025-8B7C-486CD52B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7486650"/>
            <a:ext cx="580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1C1C1C"/>
                </a:solidFill>
                <a:latin typeface="Arimo"/>
                <a:ea typeface="Arimo"/>
                <a:cs typeface="Arimo"/>
              </a:defRPr>
            </a:pPr>
            <a:r>
              <a:rPr sz="2175" b="0">
                <a:solidFill>
                  <a:srgbClr val="1C1C1C"/>
                </a:solidFill>
                <a:latin typeface="Arimo"/>
                <a:ea typeface="Arimo"/>
                <a:cs typeface="Arimo"/>
              </a:rPr>
              <a:t>· 기기·작업에 맞는 실행 전략의 판단 자료</a:t>
            </a:r>
          </a:p>
        </p:txBody>
      </p:sp>
      <p:sp>
        <p:nvSpPr>
          <p:cNvPr id="51" name="original-value-caption">
            <a:extLst xmlns:a="http://schemas.openxmlformats.org/drawingml/2006/main">
              <a:ext uri="{FF2B5EF4-FFF2-40B4-BE49-F238E27FC236}">
                <a16:creationId xmlns:a16="http://schemas.microsoft.com/office/drawing/2014/main" id="{9B892F60-0C4C-4185-B32A-36DD8587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7867650"/>
            <a:ext cx="5800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18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18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18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18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18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18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18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18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18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pPr>
            <a:r>
              <a:rPr sz="1800" b="0">
                <a:solidFill>
                  <a:srgbClr val="777777"/>
                </a:solidFill>
                <a:latin typeface="Arimo"/>
                <a:ea typeface="Arimo"/>
                <a:cs typeface="Arimo"/>
              </a:rPr>
              <a:t>기기별 모형·합성 요청 조건에서 활용</a:t>
            </a:r>
          </a:p>
        </p:txBody>
      </p:sp>
      <p:sp>
        <p:nvSpPr>
          <p:cNvPr id="52" name="takeaway">
            <a:extLst xmlns:a="http://schemas.openxmlformats.org/drawingml/2006/main">
              <a:ext uri="{FF2B5EF4-FFF2-40B4-BE49-F238E27FC236}">
                <a16:creationId xmlns:a16="http://schemas.microsoft.com/office/drawing/2014/main" id="{A5E672BA-CAF9-4994-B781-17D9E6C8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867775"/>
            <a:ext cx="1661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2518C"/>
                </a:solidFill>
                <a:latin typeface="Arimo Bold"/>
                <a:ea typeface="Arimo Bold"/>
                <a:cs typeface="Arimo Bold"/>
              </a:defRPr>
            </a:defPPr>
            <a:lvl1pPr algn="l">
              <a:buNone/>
              <a:defRPr sz="2400" b="1">
                <a:solidFill>
                  <a:srgbClr val="42518C"/>
                </a:solidFill>
                <a:latin typeface="Arimo Bold"/>
                <a:ea typeface="Arimo Bold"/>
                <a:cs typeface="Arimo Bold"/>
              </a:defRPr>
            </a:lvl1pPr>
            <a:lvl2pPr algn="l">
              <a:buNone/>
              <a:defRPr sz="2400" b="1">
                <a:solidFill>
                  <a:srgbClr val="42518C"/>
                </a:solidFill>
                <a:latin typeface="Arimo Bold"/>
                <a:ea typeface="Arimo Bold"/>
                <a:cs typeface="Arimo Bold"/>
              </a:defRPr>
            </a:lvl2pPr>
            <a:lvl3pPr algn="l">
              <a:buNone/>
              <a:defRPr sz="2400" b="1">
                <a:solidFill>
                  <a:srgbClr val="42518C"/>
                </a:solidFill>
                <a:latin typeface="Arimo Bold"/>
                <a:ea typeface="Arimo Bold"/>
                <a:cs typeface="Arimo Bold"/>
              </a:defRPr>
            </a:lvl3pPr>
            <a:lvl4pPr algn="l">
              <a:buNone/>
              <a:defRPr sz="2400" b="1">
                <a:solidFill>
                  <a:srgbClr val="42518C"/>
                </a:solidFill>
                <a:latin typeface="Arimo Bold"/>
                <a:ea typeface="Arimo Bold"/>
                <a:cs typeface="Arimo Bold"/>
              </a:defRPr>
            </a:lvl4pPr>
            <a:lvl5pPr algn="l">
              <a:buNone/>
              <a:defRPr sz="2400" b="1">
                <a:solidFill>
                  <a:srgbClr val="42518C"/>
                </a:solidFill>
                <a:latin typeface="Arimo Bold"/>
                <a:ea typeface="Arimo Bold"/>
                <a:cs typeface="Arimo Bold"/>
              </a:defRPr>
            </a:lvl5pPr>
            <a:lvl6pPr algn="l">
              <a:buNone/>
              <a:defRPr sz="2400" b="1">
                <a:solidFill>
                  <a:srgbClr val="42518C"/>
                </a:solidFill>
                <a:latin typeface="Arimo Bold"/>
                <a:ea typeface="Arimo Bold"/>
                <a:cs typeface="Arimo Bold"/>
              </a:defRPr>
            </a:lvl6pPr>
            <a:lvl7pPr algn="l">
              <a:buNone/>
              <a:defRPr sz="2400" b="1">
                <a:solidFill>
                  <a:srgbClr val="42518C"/>
                </a:solidFill>
                <a:latin typeface="Arimo Bold"/>
                <a:ea typeface="Arimo Bold"/>
                <a:cs typeface="Arimo Bold"/>
              </a:defRPr>
            </a:lvl7pPr>
            <a:lvl8pPr algn="l">
              <a:buNone/>
              <a:defRPr sz="2400" b="1">
                <a:solidFill>
                  <a:srgbClr val="42518C"/>
                </a:solidFill>
                <a:latin typeface="Arimo Bold"/>
                <a:ea typeface="Arimo Bold"/>
                <a:cs typeface="Arimo Bold"/>
              </a:defRPr>
            </a:lvl8pPr>
            <a:lvl9pPr algn="l">
              <a:buNone/>
              <a:defRPr sz="2400" b="1">
                <a:solidFill>
                  <a:srgbClr val="42518C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42518C"/>
                </a:solidFill>
                <a:latin typeface="Arimo Bold"/>
                <a:ea typeface="Arimo Bold"/>
                <a:cs typeface="Arimo Bold"/>
              </a:defRPr>
            </a:pPr>
            <a:r>
              <a:rPr sz="2400" b="1">
                <a:solidFill>
                  <a:srgbClr val="42518C"/>
                </a:solidFill>
                <a:latin typeface="Arimo Bold"/>
                <a:ea typeface="Arimo Bold"/>
                <a:cs typeface="Arimo Bold"/>
              </a:rPr>
              <a:t>기기별 실측과 산업공학 스케줄링을 연결해, AI 서비스와 기기 부담을 함께 고려하는 배정 방법을 제시했습니다.</a:t>
            </a:r>
          </a:p>
        </p:txBody>
      </p:sp>
      <p:sp>
        <p:nvSpPr>
          <p:cNvPr id="53" name="scope">
            <a:extLst xmlns:a="http://schemas.openxmlformats.org/drawingml/2006/main">
              <a:ext uri="{FF2B5EF4-FFF2-40B4-BE49-F238E27FC236}">
                <a16:creationId xmlns:a16="http://schemas.microsoft.com/office/drawing/2014/main" id="{4087DAE3-0A28-49F3-A1AD-2CBDF865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39325"/>
            <a:ext cx="1607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defPPr>
            <a:lvl1pPr algn="l">
              <a:buNone/>
              <a:defRPr sz="15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1pPr>
            <a:lvl2pPr algn="l">
              <a:buNone/>
              <a:defRPr sz="15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2pPr>
            <a:lvl3pPr algn="l">
              <a:buNone/>
              <a:defRPr sz="15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3pPr>
            <a:lvl4pPr algn="l">
              <a:buNone/>
              <a:defRPr sz="15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4pPr>
            <a:lvl5pPr algn="l">
              <a:buNone/>
              <a:defRPr sz="15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5pPr>
            <a:lvl6pPr algn="l">
              <a:buNone/>
              <a:defRPr sz="15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6pPr>
            <a:lvl7pPr algn="l">
              <a:buNone/>
              <a:defRPr sz="15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7pPr>
            <a:lvl8pPr algn="l">
              <a:buNone/>
              <a:defRPr sz="15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8pPr>
            <a:lvl9pPr algn="l">
              <a:buNone/>
              <a:defRPr sz="15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777777"/>
                </a:solidFill>
                <a:latin typeface="Arimo"/>
                <a:ea typeface="Arimo"/>
                <a:cs typeface="Arimo"/>
              </a:defRPr>
            </a:pPr>
            <a:r>
              <a:rPr sz="1500" b="0">
                <a:solidFill>
                  <a:srgbClr val="777777"/>
                </a:solidFill>
                <a:latin typeface="Arimo"/>
                <a:ea typeface="Arimo"/>
                <a:cs typeface="Arimo"/>
              </a:rPr>
              <a:t>기기별 대표 조건의 시뮬레이션 결과입니다. 소비·온도는 모형 예측값이며, 정책 전체의 성과로 해석합니다.</a:t>
            </a:r>
          </a:p>
        </p:txBody>
      </p:sp>
      <p:sp>
        <p:nvSpPr>
          <p:cNvPr id="5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57DC56-F578-4345-8904-D5CCC687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1200" y="9839325"/>
            <a:ext cx="70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defPPr>
            <a:lvl1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1pPr>
            <a:lvl2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2pPr>
            <a:lvl3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3pPr>
            <a:lvl4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4pPr>
            <a:lvl5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5pPr>
            <a:lvl6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6pPr>
            <a:lvl7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7pPr>
            <a:lvl8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8pPr>
            <a:lvl9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lvl9pPr>
          </a:lstStyle>
          <a:p xmlns:a="http://schemas.openxmlformats.org/drawingml/2006/main">
            <a:pPr algn="r">
              <a:buNone/>
              <a:def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defRPr>
            </a:pPr>
            <a:r>
              <a:rPr sz="1800" b="1">
                <a:solidFill>
                  <a:srgbClr val="909090"/>
                </a:solidFill>
                <a:latin typeface="Arimo Bold"/>
                <a:ea typeface="Arimo Bold"/>
                <a:cs typeface="Arimo Bold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7904485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2026-10-22T06:39:09.1650000Z</dcterms:created>
  <dcterms:modified xsi:type="dcterms:W3CDTF">2026-10-22T06:39:09.1650000Z</dcterms:modified>
</coreProperties>
</file>