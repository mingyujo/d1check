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7140af7a8f4767" /><Relationship Type="http://schemas.openxmlformats.org/officeDocument/2006/relationships/extended-properties" Target="/docProps/app.xml" Id="R11dfa831f6494b7d" /><Relationship Type="http://schemas.openxmlformats.org/officeDocument/2006/relationships/officeDocument" Target="/ppt/presentation.xml" Id="Ra548360d04e14621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9f9ec515a5f448fa"/>
  </p:sldMasterIdLst>
  <p:notesMasterIdLst>
    <p:notesMasterId xmlns:r="http://schemas.openxmlformats.org/officeDocument/2006/relationships" r:id="R2ace0ca96f994074"/>
  </p:notesMasterIdLst>
  <p:sldIdLst>
    <p:sldId xmlns:r="http://schemas.openxmlformats.org/officeDocument/2006/relationships" id="256" r:id="R6a6c6dfa1ca442df"/>
  </p:sldIdLst>
  <p:sldSz cx="18288000" cy="10287000"/>
  <p:notesSz cx="6858000" cy="9144000"/>
  <p:embeddedFontLst>
    <p:embeddedFont>
      <p:font typeface="Noto Sans"/>
      <p:regular xmlns:r="http://schemas.openxmlformats.org/officeDocument/2006/relationships" r:id="Rb248e7b52f85484b"/>
    </p:embeddedFont>
    <p:embeddedFont>
      <p:font typeface="Noto Sans Bold"/>
      <p:regular xmlns:r="http://schemas.openxmlformats.org/officeDocument/2006/relationships" r:id="Rea53a7b6ccfc40dc"/>
    </p:embeddedFont>
    <p:embeddedFont>
      <p:font typeface="Arimo"/>
      <p:regular xmlns:r="http://schemas.openxmlformats.org/officeDocument/2006/relationships" r:id="R5f5ef8cfe4974954"/>
    </p:embeddedFont>
    <p:embeddedFont>
      <p:font typeface="Arimo Bold"/>
      <p:regular xmlns:r="http://schemas.openxmlformats.org/officeDocument/2006/relationships" r:id="Rf7cf8a16290646b8"/>
    </p:embeddedFont>
    <p:embeddedFont>
      <p:font typeface="Open Sans Bold"/>
      <p:regular xmlns:r="http://schemas.openxmlformats.org/officeDocument/2006/relationships" r:id="Rec9538e7e1e04683"/>
    </p:embeddedFont>
    <p:embeddedFont>
      <p:font typeface="Mandali"/>
      <p:regular xmlns:r="http://schemas.openxmlformats.org/officeDocument/2006/relationships" r:id="Redbf4086b4f04c56"/>
    </p:embeddedFont>
    <p:embeddedFont>
      <p:font typeface="Calibri (MS)"/>
      <p:regular xmlns:r="http://schemas.openxmlformats.org/officeDocument/2006/relationships" r:id="R0d43bb14e4974e6e"/>
    </p:embeddedFont>
    <p:embeddedFont>
      <p:font typeface="Calibri (MS) Bold"/>
      <p:regular xmlns:r="http://schemas.openxmlformats.org/officeDocument/2006/relationships" r:id="Recabee89263147ee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ea1cdf1c4149a7" /><Relationship Type="http://schemas.openxmlformats.org/officeDocument/2006/relationships/slideMaster" Target="/ppt/slideMasters/slideMaster1.xml" Id="R9f9ec515a5f448fa" /><Relationship Type="http://schemas.openxmlformats.org/officeDocument/2006/relationships/notesMaster" Target="/ppt/notesMasters/notesMaster1.xml" Id="R2ace0ca96f994074" /><Relationship Type="http://schemas.openxmlformats.org/officeDocument/2006/relationships/presProps" Target="/ppt/presProps.xml" Id="R4e6557f166fc44a3" /><Relationship Type="http://schemas.openxmlformats.org/officeDocument/2006/relationships/viewProps" Target="/ppt/viewProps.xml" Id="Re700f73173fe479b" /><Relationship Type="http://schemas.openxmlformats.org/officeDocument/2006/relationships/tableStyles" Target="/ppt/tableStyles.xml" Id="Rfbbe42ef12e64c89" /><Relationship Type="http://schemas.openxmlformats.org/officeDocument/2006/relationships/font" Target="/ppt/fonts/font.dat" Id="Rb248e7b52f85484b" /><Relationship Type="http://schemas.openxmlformats.org/officeDocument/2006/relationships/font" Target="/ppt/fonts/font2.dat" Id="Rea53a7b6ccfc40dc" /><Relationship Type="http://schemas.openxmlformats.org/officeDocument/2006/relationships/font" Target="/ppt/fonts/font3.dat" Id="R5f5ef8cfe4974954" /><Relationship Type="http://schemas.openxmlformats.org/officeDocument/2006/relationships/font" Target="/ppt/fonts/font4.dat" Id="Rf7cf8a16290646b8" /><Relationship Type="http://schemas.openxmlformats.org/officeDocument/2006/relationships/font" Target="/ppt/fonts/font5.dat" Id="Rec9538e7e1e04683" /><Relationship Type="http://schemas.openxmlformats.org/officeDocument/2006/relationships/font" Target="/ppt/fonts/font6.dat" Id="Redbf4086b4f04c56" /><Relationship Type="http://schemas.openxmlformats.org/officeDocument/2006/relationships/font" Target="/ppt/fonts/font7.dat" Id="R0d43bb14e4974e6e" /><Relationship Type="http://schemas.openxmlformats.org/officeDocument/2006/relationships/font" Target="/ppt/fonts/font8.dat" Id="Recabee89263147ee" /><Relationship Type="http://schemas.openxmlformats.org/officeDocument/2006/relationships/slide" Target="/ppt/slides/slide1.xml" Id="R6a6c6dfa1ca442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6ba258b17c45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2539128d994580" /><Relationship Type="http://schemas.openxmlformats.org/officeDocument/2006/relationships/notesMaster" Target="/ppt/notesMasters/notesMaster1.xml" Id="Rfd563c0b60e94e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요청: BC 목적함수·제약·설계식의 구분을 설명한 뒤 PPTX 한 장 제작. 기존 교사·BC 3칸 구성, Arimo/Arimo Bold, 원본 슬라이드 크기와 색상, 왼쪽/가운데 객체 위치·서식을 유지했다.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가운데의 BC 학습 목적은 교사 판단을 모방하도록 학습 손실을 줄이는 것이다. 학습식 세부항을 새 공통 식으로 만들지 않았다. A24는 행동 분류 손실과 보조 pairwise margin 항을 포함하며, S26은 교사와 호환되는 행동 집합의 확률 질량을 학습한다. 모형 소비·온도 자체를 직접 최소화하는 공통 BC 목적함수로 설명하지 않는다.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오른쪽 식은 학습 목적함수가 아니라 동결된 정책의 실행 시 선택 원리다: a_t = argmax_{a ∈ A_허용(s_t)} z_θ(s_t,a). s_t는 현재 요청·기기 상태, A_허용은 ATC/대표 규칙 후보 구성과 롤링 예측 후 실행 제약·서비스 보호/보완 규칙을 반영한 최종 허용 후보, z_θ는 후보별 신경망 점수이며 θ는 학습 후 고정된다. a_t는 요청·자원 배정 또는 대기다.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A_허용은 단순 물리 제약만이 아니라 두 기기의 기한 보호·서비스 보완도 포함하는 요약 기호다. 기한 준수 보장이나 전역 최적화의 해를 나타내는 식이 아니다. 마스크 이후 score argmax를 실행하며, S26의 서비스 보완이 허용 후보를 좁히는 점도 포함한다.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수식은 캔바/PowerPoint에서 수정할 수 있는 텍스트 객체로 조판했으며, 각 첨자와 argmax 하단 조건도 편집 가능하다. 수식 이미지나 새 비트맵을 사용하지 않았다.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A24 학습 근거: C:\Users\chomg\Documents\ChatGPT\산공회\D1Check\a24_simulator\experiments\a24_nn_urgent_tie_20261021\train.py losses/fit.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A24 행동 선택 근거: C:\Users\chomg\Documents\ChatGPT\산공회\D1Check\a24_simulator\experiments\a24_nn_urgent_tie_20261021\policy.py repair_bank / Policy.__call__.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S26 학습 근거: C:\Users\chomg\Documents\ChatGPT\산공회\S26-D1Check\s26_simulator\experiments\route_group_learning_v1\bc.py targets / pretrain.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S26 서비스 보완 근거: C:\Users\chomg\Documents\ChatGPT\산공회\S26-D1Check\s26_simulator\experiments\bc_service_refinement_20261020\service_guard.cjs.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S26의 기존 CPU는 배치용 오기는 탐지용으로 수정했고, 교사 경로 선호가 작업 구성비를 반영함을 명시했다. 원본의 평가 수치는 이 페이지에서 변경하거나 새 실험으로 확인하지 않았다.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디자인 원본: C:\Users\chomg\Documents\ChatGPT\산공회\output\teacher-bc-runtime\기기별_교사정책과_BC학습_실행적용.pptx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7072f6670b404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0386248cb5441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5873d6d9f84ee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fde8f32a804f4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ef7058ead94d4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e79bb7d1a447f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011f1abb454f6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0f7672444e454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b4a31207824fe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cd72a841034a3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08772610f0455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DEC6854-7ED5-4E71-90FD-52DC8B06FAB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1EDB05BE-DFC7-452C-A01F-1911638DC15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B6CF11D-9E0E-4AF1-91C6-7AA88F03D9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C9BE413-1136-4AB0-A581-263C7D51D23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EFB198-1BF6-4916-9320-A2FEA96E7F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DD64547-DFB6-40C4-8F2E-DE04631933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D89072-B737-433F-9EAF-792C47CFD01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3AA27E2-74A6-4B0B-938A-3DE48DEF7B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F22387E-1DE1-4CAA-9304-EC53E02BE1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28A8E37-D710-4D1A-BD53-95792783DB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D51792F-6F9D-4C69-BC04-1160814EA1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EEAB8BB-8D1F-42F8-BD5A-A5D733A30C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02E8ABB-805C-46F8-B85A-BE0983DEB7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A8BD0F5-4F60-4C2C-8BFA-F3F726A0F90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59E1DBF-B526-4E7E-94F6-F650D71492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78D5D06-DF66-4AC5-9FC2-85218A4288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8D45FA-9391-49E3-88FD-01838CCAD46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6CB4831-992B-41FC-817A-600BC389335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99F658C-B083-45D5-9C6C-BB45232A08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5C2692C-314F-40B5-89C3-242A21A38A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DCFBC89-E055-4DE9-BDF0-453F2C044D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6F7A43-3A36-4752-9080-A440676068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D32A3E4-6BE2-4DC7-BF18-7DF7032CA2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6DFD167-C19A-44A7-9E12-F5B2DBF7CD9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E9D93ED-9F57-481B-BB48-47095901923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1CD040C6-355A-4D2A-853F-FE179E24963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E00743A-BDA5-4F85-B0AA-A711BAAF8A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6DCC20B-960C-484A-AEA0-772BBF24CC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7E3A7BD-96D3-46B1-9F5A-0E30334A80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DD3901F-E094-497E-9938-4209DAA129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D56F8BEF-3F1D-4A62-880B-6F4AA1E5767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639C131-DAD0-49DC-AA1C-E4AF78BA7C1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DCCF2C5-B302-4210-8D03-79552753D2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6C26F64-6213-44B5-8210-519AD9A89C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B922FF8-121F-4A82-9C58-F2C3AD3D8B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FFE0D58-741E-4713-8D52-20C6F728D4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82EA7FF-77D1-42ED-AEC8-AAE9E3B9A8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0EBC7F3-AB59-4074-9291-1669CA605CA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9FC3DDD-0669-438E-8BBB-EF2364152E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B7A54EA-2F48-45B6-9364-248CD56AAF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A6FDFF7-EE20-449F-875B-771D5D0916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27901A3-D1DD-4CDE-AFB0-1051882202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340A9F3-174E-4F2C-883E-080C6EA6FA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866E79E-218F-40CE-A4A0-5C2681A14D8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3585000-325D-4FC9-83C6-8D7E6E1E5B5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2A62E41-F91B-4227-90CD-DFCBF9067D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E00B0E-ABD9-43AD-82EA-EB967B3C69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D71AE30-6B13-4E51-B512-2CA5E504DD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A77685-CAD4-4CCB-A494-6EE322C88D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472D43C-E458-4458-843E-0C6D738D1A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F6F46FB-63A7-413E-B867-89A9A4D6C50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C0DF4D1-CBB4-494E-80FE-3F76C212F21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D63899C-65C3-4B2A-87C2-25BFCA9343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4C741B8F-9421-4DEE-9FA2-8703683E44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943F0A-9CB6-4870-9A5A-1BF5438D60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839AB32-6E3C-4ED4-A36A-A261CE0398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FE513EA-2666-4643-8F09-0D56E9D2525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E4AA85D-0E7B-4701-BE79-5F218DCE5E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42d7c40c874ba4" /><Relationship Type="http://schemas.openxmlformats.org/officeDocument/2006/relationships/slideLayout" Target="/ppt/slideLayouts/slideLayout1.xml" Id="R9aa79a8720924160" /><Relationship Type="http://schemas.openxmlformats.org/officeDocument/2006/relationships/slideLayout" Target="/ppt/slideLayouts/slideLayout2.xml" Id="Re3377c236d164196" /><Relationship Type="http://schemas.openxmlformats.org/officeDocument/2006/relationships/slideLayout" Target="/ppt/slideLayouts/slideLayout3.xml" Id="R3861d6534b174f7e" /><Relationship Type="http://schemas.openxmlformats.org/officeDocument/2006/relationships/slideLayout" Target="/ppt/slideLayouts/slideLayout4.xml" Id="R9080025fec094b48" /><Relationship Type="http://schemas.openxmlformats.org/officeDocument/2006/relationships/slideLayout" Target="/ppt/slideLayouts/slideLayout5.xml" Id="Rb7a80f3833b0463f" /><Relationship Type="http://schemas.openxmlformats.org/officeDocument/2006/relationships/slideLayout" Target="/ppt/slideLayouts/slideLayout6.xml" Id="Re3c3a59e0eb442eb" /><Relationship Type="http://schemas.openxmlformats.org/officeDocument/2006/relationships/slideLayout" Target="/ppt/slideLayouts/slideLayout7.xml" Id="R3bf3296393004d86" /><Relationship Type="http://schemas.openxmlformats.org/officeDocument/2006/relationships/slideLayout" Target="/ppt/slideLayouts/slideLayout8.xml" Id="R6b46ec890b614439" /><Relationship Type="http://schemas.openxmlformats.org/officeDocument/2006/relationships/slideLayout" Target="/ppt/slideLayouts/slideLayout9.xml" Id="R3fbc963832594851" /><Relationship Type="http://schemas.openxmlformats.org/officeDocument/2006/relationships/slideLayout" Target="/ppt/slideLayouts/slideLayout10.xml" Id="Re4e2e2cc19a74ee3" /><Relationship Type="http://schemas.openxmlformats.org/officeDocument/2006/relationships/slideLayout" Target="/ppt/slideLayouts/slideLayout11.xml" Id="R8f8c1f784b49435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9DFF17-346C-4A56-A196-26391C013E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2E317A7-68B7-4853-9628-31A82C91E9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75D8379-4D3A-44BF-88EA-A719AE9F7FA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4D5A25-42C6-4041-A261-509B0A7B0CA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547EDB9-91F6-42EA-9AF1-6A6DC8729F1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a79a8720924160"/>
    <p:sldLayoutId xmlns:r="http://schemas.openxmlformats.org/officeDocument/2006/relationships" id="2147483650" r:id="Re3377c236d164196"/>
    <p:sldLayoutId xmlns:r="http://schemas.openxmlformats.org/officeDocument/2006/relationships" id="2147483651" r:id="R3861d6534b174f7e"/>
    <p:sldLayoutId xmlns:r="http://schemas.openxmlformats.org/officeDocument/2006/relationships" id="2147483652" r:id="R9080025fec094b48"/>
    <p:sldLayoutId xmlns:r="http://schemas.openxmlformats.org/officeDocument/2006/relationships" id="2147483653" r:id="Rb7a80f3833b0463f"/>
    <p:sldLayoutId xmlns:r="http://schemas.openxmlformats.org/officeDocument/2006/relationships" id="2147483654" r:id="Re3c3a59e0eb442eb"/>
    <p:sldLayoutId xmlns:r="http://schemas.openxmlformats.org/officeDocument/2006/relationships" id="2147483655" r:id="R3bf3296393004d86"/>
    <p:sldLayoutId xmlns:r="http://schemas.openxmlformats.org/officeDocument/2006/relationships" id="2147483656" r:id="R6b46ec890b614439"/>
    <p:sldLayoutId xmlns:r="http://schemas.openxmlformats.org/officeDocument/2006/relationships" id="2147483657" r:id="R3fbc963832594851"/>
    <p:sldLayoutId xmlns:r="http://schemas.openxmlformats.org/officeDocument/2006/relationships" id="2147483658" r:id="Re4e2e2cc19a74ee3"/>
    <p:sldLayoutId xmlns:r="http://schemas.openxmlformats.org/officeDocument/2006/relationships" id="2147483659" r:id="R8f8c1f784b49435b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bc3176a4c27490b" /><Relationship Type="http://schemas.openxmlformats.org/officeDocument/2006/relationships/image" Target="/ppt/media/image.jpeg" Id="Rde6705c6c37740ce" /><Relationship Type="http://schemas.openxmlformats.org/officeDocument/2006/relationships/notesSlide" Target="/ppt/notesSlides/notesSlide1.xml" Id="R6a7ae56a9a8f469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66B9439E-BA57-4BD1-9B06-AEB0D23C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80308" y="619817"/>
            <a:ext cx="17527384" cy="0"/>
          </a:xfrm>
          <a:prstGeom xmlns:a="http://schemas.openxmlformats.org/drawingml/2006/main" prst="line">
            <a:avLst/>
          </a:prstGeom>
          <a:ln xmlns:a="http://schemas.openxmlformats.org/drawingml/2006/main" w="28575" cap="rnd">
            <a:solidFill>
              <a:srgbClr val="395BD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CB012C48-2F56-45D9-9EDA-8EC113F4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80308" y="9682103"/>
            <a:ext cx="17527384" cy="0"/>
          </a:xfrm>
          <a:prstGeom xmlns:a="http://schemas.openxmlformats.org/drawingml/2006/main" prst="line">
            <a:avLst/>
          </a:prstGeom>
          <a:ln xmlns:a="http://schemas.openxmlformats.org/drawingml/2006/main" w="28575" cap="rnd">
            <a:solidFill>
              <a:srgbClr val="395BD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3E170E5E-AED0-4EEF-B245-3639BA92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1289047"/>
            <a:ext cx="16509997" cy="6705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400" b="1">
                <a:solidFill>
                  <a:srgbClr val="202124"/>
                </a:solidFill>
                <a:latin typeface="Arimo Bold"/>
                <a:ea typeface="Arimo Bold"/>
                <a:cs typeface="Arimo Bold"/>
              </a:defRPr>
            </a:defPPr>
            <a:lvl1pPr algn="l">
              <a:buNone/>
              <a:defRPr sz="4400" b="1">
                <a:solidFill>
                  <a:srgbClr val="202124"/>
                </a:solidFill>
                <a:latin typeface="Arimo Bold"/>
                <a:ea typeface="Arimo Bold"/>
                <a:cs typeface="Arimo Bold"/>
              </a:defRPr>
            </a:lvl1pPr>
            <a:lvl2pPr algn="l">
              <a:buNone/>
              <a:defRPr sz="4400" b="1">
                <a:solidFill>
                  <a:srgbClr val="202124"/>
                </a:solidFill>
                <a:latin typeface="Arimo Bold"/>
                <a:ea typeface="Arimo Bold"/>
                <a:cs typeface="Arimo Bold"/>
              </a:defRPr>
            </a:lvl2pPr>
            <a:lvl3pPr algn="l">
              <a:buNone/>
              <a:defRPr sz="4400" b="1">
                <a:solidFill>
                  <a:srgbClr val="202124"/>
                </a:solidFill>
                <a:latin typeface="Arimo Bold"/>
                <a:ea typeface="Arimo Bold"/>
                <a:cs typeface="Arimo Bold"/>
              </a:defRPr>
            </a:lvl3pPr>
            <a:lvl4pPr algn="l">
              <a:buNone/>
              <a:defRPr sz="4400" b="1">
                <a:solidFill>
                  <a:srgbClr val="202124"/>
                </a:solidFill>
                <a:latin typeface="Arimo Bold"/>
                <a:ea typeface="Arimo Bold"/>
                <a:cs typeface="Arimo Bold"/>
              </a:defRPr>
            </a:lvl4pPr>
            <a:lvl5pPr algn="l">
              <a:buNone/>
              <a:defRPr sz="4400" b="1">
                <a:solidFill>
                  <a:srgbClr val="202124"/>
                </a:solidFill>
                <a:latin typeface="Arimo Bold"/>
                <a:ea typeface="Arimo Bold"/>
                <a:cs typeface="Arimo Bold"/>
              </a:defRPr>
            </a:lvl5pPr>
            <a:lvl6pPr algn="l">
              <a:buNone/>
              <a:defRPr sz="4400" b="1">
                <a:solidFill>
                  <a:srgbClr val="202124"/>
                </a:solidFill>
                <a:latin typeface="Arimo Bold"/>
                <a:ea typeface="Arimo Bold"/>
                <a:cs typeface="Arimo Bold"/>
              </a:defRPr>
            </a:lvl6pPr>
            <a:lvl7pPr algn="l">
              <a:buNone/>
              <a:defRPr sz="4400" b="1">
                <a:solidFill>
                  <a:srgbClr val="202124"/>
                </a:solidFill>
                <a:latin typeface="Arimo Bold"/>
                <a:ea typeface="Arimo Bold"/>
                <a:cs typeface="Arimo Bold"/>
              </a:defRPr>
            </a:lvl7pPr>
            <a:lvl8pPr algn="l">
              <a:buNone/>
              <a:defRPr sz="4400" b="1">
                <a:solidFill>
                  <a:srgbClr val="202124"/>
                </a:solidFill>
                <a:latin typeface="Arimo Bold"/>
                <a:ea typeface="Arimo Bold"/>
                <a:cs typeface="Arimo Bold"/>
              </a:defRPr>
            </a:lvl8pPr>
            <a:lvl9pPr algn="l">
              <a:buNone/>
              <a:defRPr sz="4400" b="1">
                <a:solidFill>
                  <a:srgbClr val="202124"/>
                </a:solidFill>
                <a:latin typeface="Arimo Bold"/>
                <a:ea typeface="Arimo Bold"/>
                <a:cs typeface="Arimo Bold"/>
              </a:defRPr>
            </a:lvl9pPr>
          </a:lstStyle>
          <a:p xmlns:a="http://schemas.openxmlformats.org/drawingml/2006/main">
            <a:pPr algn="l">
              <a:lnSpc>
                <a:spcPts val="5280"/>
              </a:lnSpc>
              <a:buNone/>
              <a:defRPr sz="4400" b="1">
                <a:solidFill>
                  <a:srgbClr val="202124"/>
                </a:solidFill>
                <a:latin typeface="Arimo Bold"/>
                <a:ea typeface="Arimo Bold"/>
                <a:cs typeface="Arimo Bold"/>
              </a:defRPr>
            </a:pPr>
            <a:r>
              <a:rPr sz="4400" b="1">
                <a:solidFill>
                  <a:srgbClr val="202124"/>
                </a:solidFill>
                <a:latin typeface="Arimo Bold"/>
                <a:ea typeface="Arimo Bold"/>
                <a:cs typeface="Arimo Bold"/>
              </a:rPr>
              <a:t>기기별 교사정책과 모방 학습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FF35EB72-3FDE-401A-AEBB-5D590936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6508" y="2117722"/>
            <a:ext cx="16446503" cy="3808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99"/>
              </a:lnSpc>
              <a:buNone/>
            </a:pPr>
            <a:r>
              <a:rPr sz="2499" b="1">
                <a:solidFill>
                  <a:srgbClr val="1F2020"/>
                </a:solidFill>
                <a:latin typeface="Arimo Bold"/>
                <a:ea typeface="Arimo Bold"/>
                <a:cs typeface="Arimo Bold"/>
              </a:rPr>
              <a:t>교사 판단을 모방해 학습하고, 실행 제약을 반영한 후보 중 최종 행동을 선택합니다.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E161429B-82D2-4DA0-A5D7-4338B5A1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455" y="2739238"/>
            <a:ext cx="5436870" cy="5696616"/>
          </a:xfrm>
          <a:custGeom xmlns:a="http://schemas.openxmlformats.org/drawingml/2006/main">
            <a:rect l="l" t="t" r="r" b="b"/>
            <a:pathLst>
              <a:path w="7249160" h="7595489">
                <a:moveTo>
                  <a:pt x="0" y="652399"/>
                </a:moveTo>
                <a:cubicBezTo>
                  <a:pt x="0" y="292100"/>
                  <a:pt x="292100" y="0"/>
                  <a:pt x="652399" y="0"/>
                </a:cubicBezTo>
                <a:lnTo>
                  <a:pt x="6596761" y="0"/>
                </a:lnTo>
                <a:cubicBezTo>
                  <a:pt x="6957060" y="0"/>
                  <a:pt x="7249160" y="292100"/>
                  <a:pt x="7249160" y="652399"/>
                </a:cubicBezTo>
                <a:lnTo>
                  <a:pt x="7249160" y="6943090"/>
                </a:lnTo>
                <a:cubicBezTo>
                  <a:pt x="7249160" y="7303389"/>
                  <a:pt x="6957060" y="7595489"/>
                  <a:pt x="6596761" y="7595489"/>
                </a:cubicBezTo>
                <a:lnTo>
                  <a:pt x="652399" y="7595489"/>
                </a:lnTo>
                <a:cubicBezTo>
                  <a:pt x="292100" y="7595489"/>
                  <a:pt x="0" y="7303389"/>
                  <a:pt x="0" y="6943090"/>
                </a:cubicBezTo>
                <a:close/>
              </a:path>
            </a:pathLst>
          </a:custGeom>
          <a:solidFill xmlns:a="http://schemas.openxmlformats.org/drawingml/2006/main">
            <a:srgbClr val="F0F3FB"/>
          </a:solidFill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625656F6-3FD2-4978-AF25-6F3B11DA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97599" y="2727322"/>
            <a:ext cx="4335208" cy="5720428"/>
          </a:xfrm>
          <a:custGeom xmlns:a="http://schemas.openxmlformats.org/drawingml/2006/main">
            <a:rect l="l" t="t" r="r" b="b"/>
            <a:pathLst>
              <a:path w="5780278" h="7627238">
                <a:moveTo>
                  <a:pt x="0" y="462407"/>
                </a:moveTo>
                <a:cubicBezTo>
                  <a:pt x="0" y="207010"/>
                  <a:pt x="207010" y="0"/>
                  <a:pt x="462407" y="0"/>
                </a:cubicBezTo>
                <a:lnTo>
                  <a:pt x="5317871" y="0"/>
                </a:lnTo>
                <a:cubicBezTo>
                  <a:pt x="5573268" y="0"/>
                  <a:pt x="5780278" y="207010"/>
                  <a:pt x="5780278" y="462407"/>
                </a:cubicBezTo>
                <a:lnTo>
                  <a:pt x="5780278" y="7164832"/>
                </a:lnTo>
                <a:cubicBezTo>
                  <a:pt x="5780278" y="7420228"/>
                  <a:pt x="5573268" y="7627238"/>
                  <a:pt x="5317871" y="7627238"/>
                </a:cubicBezTo>
                <a:lnTo>
                  <a:pt x="462407" y="7627238"/>
                </a:lnTo>
                <a:cubicBezTo>
                  <a:pt x="207010" y="7627239"/>
                  <a:pt x="0" y="7420229"/>
                  <a:pt x="0" y="716483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3831" cap="sq">
            <a:solidFill>
              <a:srgbClr val="3659DE"/>
            </a:solidFill>
            <a:prstDash val="solid"/>
            <a:miter/>
          </a:ln>
        </p:spPr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012AF547-C211-4EFC-8D09-B25CC8BF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71110" y="2739238"/>
            <a:ext cx="5973698" cy="5696616"/>
          </a:xfrm>
          <a:custGeom xmlns:a="http://schemas.openxmlformats.org/drawingml/2006/main">
            <a:rect l="l" t="t" r="r" b="b"/>
            <a:pathLst>
              <a:path w="7964932" h="7595489">
                <a:moveTo>
                  <a:pt x="0" y="683641"/>
                </a:moveTo>
                <a:cubicBezTo>
                  <a:pt x="0" y="306070"/>
                  <a:pt x="306070" y="0"/>
                  <a:pt x="683641" y="0"/>
                </a:cubicBezTo>
                <a:lnTo>
                  <a:pt x="7281291" y="0"/>
                </a:lnTo>
                <a:cubicBezTo>
                  <a:pt x="7658862" y="0"/>
                  <a:pt x="7964932" y="306070"/>
                  <a:pt x="7964932" y="683641"/>
                </a:cubicBezTo>
                <a:lnTo>
                  <a:pt x="7964932" y="6911848"/>
                </a:lnTo>
                <a:cubicBezTo>
                  <a:pt x="7964932" y="7289419"/>
                  <a:pt x="7658862" y="7595489"/>
                  <a:pt x="7281291" y="7595489"/>
                </a:cubicBezTo>
                <a:lnTo>
                  <a:pt x="683641" y="7595489"/>
                </a:lnTo>
                <a:cubicBezTo>
                  <a:pt x="306070" y="7595489"/>
                  <a:pt x="0" y="7289419"/>
                  <a:pt x="0" y="6911848"/>
                </a:cubicBezTo>
                <a:close/>
              </a:path>
            </a:pathLst>
          </a:custGeom>
          <a:solidFill xmlns:a="http://schemas.openxmlformats.org/drawingml/2006/main">
            <a:srgbClr val="F0F3FB"/>
          </a:solidFill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AF74FD32-72FE-471C-BA31-B8E74CE3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123" y="2947016"/>
            <a:ext cx="4588446" cy="423690"/>
          </a:xfrm>
          <a:custGeom xmlns:a="http://schemas.openxmlformats.org/drawingml/2006/main">
            <a:rect l="l" t="t" r="r" b="b"/>
            <a:pathLst>
              <a:path w="6117928" h="564919">
                <a:moveTo>
                  <a:pt x="0" y="0"/>
                </a:moveTo>
                <a:lnTo>
                  <a:pt x="6117928" y="0"/>
                </a:lnTo>
                <a:lnTo>
                  <a:pt x="6117928" y="564919"/>
                </a:lnTo>
                <a:lnTo>
                  <a:pt x="0" y="56491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e6705c6c37740ce">
              <a:alphaModFix amt="0"/>
            </a:blip>
            <a:stretch>
              <a:fillRect l="0" t="-161977" r="0" b="-160058"/>
            </a:stretch>
          </a:blip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EE0975C6-4F07-43CE-9E9A-A05035B5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123" y="2939873"/>
            <a:ext cx="4588450" cy="4308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21"/>
              </a:lnSpc>
              <a:buNone/>
            </a:pPr>
            <a:r>
              <a:rPr sz="2101" b="1">
                <a:solidFill>
                  <a:srgbClr val="3659DE"/>
                </a:solidFill>
                <a:latin typeface="Arimo Bold"/>
                <a:ea typeface="Arimo Bold"/>
                <a:cs typeface="Arimo Bold"/>
              </a:rPr>
              <a:t>① 교사 규칙 설계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B4F9A93D-25C6-4A76-A015-681CD3F8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123" y="3345256"/>
            <a:ext cx="4675019" cy="320122"/>
          </a:xfrm>
          <a:custGeom xmlns:a="http://schemas.openxmlformats.org/drawingml/2006/main">
            <a:rect l="l" t="t" r="r" b="b"/>
            <a:pathLst>
              <a:path w="6233360" h="426830">
                <a:moveTo>
                  <a:pt x="0" y="0"/>
                </a:moveTo>
                <a:lnTo>
                  <a:pt x="6233360" y="0"/>
                </a:lnTo>
                <a:lnTo>
                  <a:pt x="6233360" y="426830"/>
                </a:lnTo>
                <a:lnTo>
                  <a:pt x="0" y="42683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e6705c6c37740ce">
              <a:alphaModFix amt="0"/>
            </a:blip>
            <a:stretch>
              <a:fillRect l="0" t="-238582" r="0" b="-230531"/>
            </a:stretch>
          </a:blip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64E898AD-B268-4ACF-93CF-00D935DC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123" y="3338113"/>
            <a:ext cx="4675022" cy="32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91"/>
              </a:lnSpc>
              <a:buNone/>
            </a:pPr>
            <a:r>
              <a:rPr sz="1575">
                <a:solidFill>
                  <a:srgbClr val="737373"/>
                </a:solidFill>
                <a:latin typeface="Arimo"/>
                <a:ea typeface="Arimo"/>
                <a:cs typeface="Arimo"/>
              </a:rPr>
              <a:t>기기마다 다른 특성을 규칙에 담음</a:t>
            </a:r>
          </a:p>
        </p:txBody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77D7B4D8-4AD4-4DFF-BB1A-C1F97951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123" y="3708873"/>
            <a:ext cx="4830794" cy="2112359"/>
          </a:xfrm>
          <a:custGeom xmlns:a="http://schemas.openxmlformats.org/drawingml/2006/main">
            <a:rect l="l" t="t" r="r" b="b"/>
            <a:pathLst>
              <a:path w="6441059" h="2816479">
                <a:moveTo>
                  <a:pt x="0" y="337947"/>
                </a:moveTo>
                <a:cubicBezTo>
                  <a:pt x="0" y="151384"/>
                  <a:pt x="151384" y="0"/>
                  <a:pt x="337947" y="0"/>
                </a:cubicBezTo>
                <a:lnTo>
                  <a:pt x="6103112" y="0"/>
                </a:lnTo>
                <a:cubicBezTo>
                  <a:pt x="6289802" y="0"/>
                  <a:pt x="6441059" y="151384"/>
                  <a:pt x="6441059" y="337947"/>
                </a:cubicBezTo>
                <a:lnTo>
                  <a:pt x="6441059" y="2478532"/>
                </a:lnTo>
                <a:cubicBezTo>
                  <a:pt x="6441059" y="2665222"/>
                  <a:pt x="6289675" y="2816479"/>
                  <a:pt x="6103112" y="2816479"/>
                </a:cubicBezTo>
                <a:lnTo>
                  <a:pt x="337947" y="2816479"/>
                </a:lnTo>
                <a:cubicBezTo>
                  <a:pt x="151384" y="2816606"/>
                  <a:pt x="0" y="2665222"/>
                  <a:pt x="0" y="247853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</p:spPr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F2D260CA-8BBC-4256-A7AC-3264ABD5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9218" y="3864702"/>
            <a:ext cx="4259462" cy="383362"/>
          </a:xfrm>
          <a:custGeom xmlns:a="http://schemas.openxmlformats.org/drawingml/2006/main">
            <a:rect l="l" t="t" r="r" b="b"/>
            <a:pathLst>
              <a:path w="5679283" h="511149">
                <a:moveTo>
                  <a:pt x="0" y="0"/>
                </a:moveTo>
                <a:lnTo>
                  <a:pt x="5679283" y="0"/>
                </a:lnTo>
                <a:lnTo>
                  <a:pt x="5679283" y="511149"/>
                </a:lnTo>
                <a:lnTo>
                  <a:pt x="0" y="51114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e6705c6c37740ce">
              <a:alphaModFix amt="0"/>
            </a:blip>
            <a:stretch>
              <a:fillRect l="0" t="-171328" r="0" b="-161661"/>
            </a:stretch>
          </a:blipFill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5EAA3EEA-3445-4587-BC78-24E74CBC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9218" y="3843271"/>
            <a:ext cx="4259466" cy="404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51"/>
              </a:lnSpc>
              <a:buNone/>
            </a:pPr>
            <a:r>
              <a:rPr sz="1876" b="1" spc="7">
                <a:solidFill>
                  <a:srgbClr val="202124"/>
                </a:solidFill>
                <a:latin typeface="Arimo Bold"/>
                <a:ea typeface="Arimo Bold"/>
                <a:cs typeface="Arimo Bold"/>
              </a:rPr>
              <a:t>A24 · 예측 비용 최소화</a:t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F9886305-E175-46ED-9A27-F21D00CF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9218" y="4297575"/>
            <a:ext cx="4207518" cy="581197"/>
          </a:xfrm>
          <a:custGeom xmlns:a="http://schemas.openxmlformats.org/drawingml/2006/main">
            <a:rect l="l" t="t" r="r" b="b"/>
            <a:pathLst>
              <a:path w="5610025" h="774929">
                <a:moveTo>
                  <a:pt x="0" y="0"/>
                </a:moveTo>
                <a:lnTo>
                  <a:pt x="5610025" y="0"/>
                </a:lnTo>
                <a:lnTo>
                  <a:pt x="5610025" y="774929"/>
                </a:lnTo>
                <a:lnTo>
                  <a:pt x="0" y="77492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e6705c6c37740ce">
              <a:alphaModFix amt="0"/>
            </a:blip>
            <a:stretch>
              <a:fillRect l="0" t="-91903" r="0" b="-90216"/>
            </a:stretch>
          </a:blipFill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84BFEE5A-06CB-4774-BAD8-8586A526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9218" y="4283288"/>
            <a:ext cx="4207516" cy="595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 spc="6">
                <a:solidFill>
                  <a:srgbClr val="202124"/>
                </a:solidFill>
                <a:latin typeface="Arimo"/>
                <a:ea typeface="Arimo"/>
                <a:cs typeface="Arimo"/>
              </a:rPr>
              <a:t>ATC로 후보를 고르고, 롤링으로</a:t>
            </a:r>
          </a:p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 spc="6">
                <a:solidFill>
                  <a:srgbClr val="202124"/>
                </a:solidFill>
                <a:latin typeface="Arimo"/>
                <a:ea typeface="Arimo"/>
                <a:cs typeface="Arimo"/>
              </a:rPr>
              <a:t>각 후보별 납기·응답·소비·열 영향을 예측</a:t>
            </a:r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FDEC3149-1C4A-4809-8A5F-3BC8A2FB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9218" y="4903594"/>
            <a:ext cx="4346037" cy="828805"/>
          </a:xfrm>
          <a:custGeom xmlns:a="http://schemas.openxmlformats.org/drawingml/2006/main">
            <a:rect l="l" t="t" r="r" b="b"/>
            <a:pathLst>
              <a:path w="5794717" h="1105074">
                <a:moveTo>
                  <a:pt x="0" y="0"/>
                </a:moveTo>
                <a:lnTo>
                  <a:pt x="5794717" y="0"/>
                </a:lnTo>
                <a:lnTo>
                  <a:pt x="5794717" y="1105074"/>
                </a:lnTo>
                <a:lnTo>
                  <a:pt x="0" y="110507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e6705c6c37740ce">
              <a:alphaModFix amt="0"/>
            </a:blip>
            <a:stretch>
              <a:fillRect l="0" t="-55169" r="0" b="-49179"/>
            </a:stretch>
          </a:blipFill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D637EDD9-23F5-41FE-8854-CD53CFD6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9218" y="4889307"/>
            <a:ext cx="4346038" cy="8430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202124"/>
                </a:solidFill>
                <a:latin typeface="Arimo"/>
                <a:ea typeface="Arimo"/>
                <a:cs typeface="Arimo"/>
              </a:rPr>
              <a:t>긴급 기한을 먼저 보호한 뒤</a:t>
            </a:r>
          </a:p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202124"/>
                </a:solidFill>
                <a:latin typeface="Arimo"/>
                <a:ea typeface="Arimo"/>
                <a:cs typeface="Arimo"/>
              </a:rPr>
              <a:t>소비·열·지각·미완료·응답 비용의</a:t>
            </a:r>
          </a:p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202124"/>
                </a:solidFill>
                <a:latin typeface="Arimo"/>
                <a:ea typeface="Arimo"/>
                <a:cs typeface="Arimo"/>
              </a:rPr>
              <a:t>합이 가장 작은 행동을 선택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101F743A-0987-49F0-8AC5-170D21DF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123" y="6011751"/>
            <a:ext cx="4830889" cy="1696878"/>
          </a:xfrm>
          <a:custGeom xmlns:a="http://schemas.openxmlformats.org/drawingml/2006/main">
            <a:rect l="l" t="t" r="r" b="b"/>
            <a:pathLst>
              <a:path w="6441186" h="2262505">
                <a:moveTo>
                  <a:pt x="0" y="271526"/>
                </a:moveTo>
                <a:cubicBezTo>
                  <a:pt x="0" y="121539"/>
                  <a:pt x="121539" y="0"/>
                  <a:pt x="271526" y="0"/>
                </a:cubicBezTo>
                <a:lnTo>
                  <a:pt x="6169660" y="0"/>
                </a:lnTo>
                <a:cubicBezTo>
                  <a:pt x="6319647" y="0"/>
                  <a:pt x="6441186" y="121539"/>
                  <a:pt x="6441186" y="271526"/>
                </a:cubicBezTo>
                <a:lnTo>
                  <a:pt x="6441186" y="1990979"/>
                </a:lnTo>
                <a:cubicBezTo>
                  <a:pt x="6441186" y="2140966"/>
                  <a:pt x="6319647" y="2262505"/>
                  <a:pt x="6169660" y="2262505"/>
                </a:cubicBezTo>
                <a:lnTo>
                  <a:pt x="271526" y="2262505"/>
                </a:lnTo>
                <a:cubicBezTo>
                  <a:pt x="121539" y="2262505"/>
                  <a:pt x="0" y="2140966"/>
                  <a:pt x="0" y="199097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</p:spPr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6E373722-6C5A-48B4-A2BD-C54F11CE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9218" y="6132957"/>
            <a:ext cx="4294092" cy="383369"/>
          </a:xfrm>
          <a:custGeom xmlns:a="http://schemas.openxmlformats.org/drawingml/2006/main">
            <a:rect l="l" t="t" r="r" b="b"/>
            <a:pathLst>
              <a:path w="5725457" h="511159">
                <a:moveTo>
                  <a:pt x="0" y="0"/>
                </a:moveTo>
                <a:lnTo>
                  <a:pt x="5725457" y="0"/>
                </a:lnTo>
                <a:lnTo>
                  <a:pt x="5725457" y="511159"/>
                </a:lnTo>
                <a:lnTo>
                  <a:pt x="0" y="51115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e6705c6c37740ce">
              <a:alphaModFix amt="0"/>
            </a:blip>
            <a:stretch>
              <a:fillRect l="0" t="-168569" r="0" b="-167931"/>
            </a:stretch>
          </a:blip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5A95B322-F396-45CB-9B94-91EA7650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9218" y="6111526"/>
            <a:ext cx="4294089" cy="404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51"/>
              </a:lnSpc>
              <a:buNone/>
            </a:pPr>
            <a:r>
              <a:rPr sz="1876" b="1" spc="7">
                <a:solidFill>
                  <a:srgbClr val="202124"/>
                </a:solidFill>
                <a:latin typeface="Arimo Bold"/>
                <a:ea typeface="Arimo Bold"/>
                <a:cs typeface="Arimo Bold"/>
              </a:rPr>
              <a:t>S26 · 경로 선호 + 기한 우선</a:t>
            </a:r>
          </a:p>
        </p:txBody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774F714F-6184-4E40-ACBE-97E039D0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9218" y="6583137"/>
            <a:ext cx="4276778" cy="581163"/>
          </a:xfrm>
          <a:custGeom xmlns:a="http://schemas.openxmlformats.org/drawingml/2006/main">
            <a:rect l="l" t="t" r="r" b="b"/>
            <a:pathLst>
              <a:path w="5702371" h="774885">
                <a:moveTo>
                  <a:pt x="0" y="0"/>
                </a:moveTo>
                <a:lnTo>
                  <a:pt x="5702371" y="0"/>
                </a:lnTo>
                <a:lnTo>
                  <a:pt x="5702371" y="774885"/>
                </a:lnTo>
                <a:lnTo>
                  <a:pt x="0" y="77488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e6705c6c37740ce">
              <a:alphaModFix amt="0"/>
            </a:blip>
            <a:stretch>
              <a:fillRect l="0" t="-94230" r="0" b="-92549"/>
            </a:stretch>
          </a:blipFill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26FB02E3-4D8D-4703-AEEC-0E4A24EA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9218" y="6568850"/>
            <a:ext cx="4276782" cy="595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202124"/>
                </a:solidFill>
                <a:latin typeface="Arimo"/>
                <a:ea typeface="Arimo"/>
                <a:cs typeface="Arimo"/>
              </a:rPr>
              <a:t>작업 구성비에 따라 선호 경로 설정</a:t>
            </a:r>
          </a:p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202124"/>
                </a:solidFill>
                <a:latin typeface="Arimo"/>
                <a:ea typeface="Arimo"/>
                <a:cs typeface="Arimo"/>
              </a:rPr>
              <a:t>(분류는 NPU 중심, CPU는 탐지용)</a:t>
            </a:r>
          </a:p>
        </p:txBody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F9B3BEA5-FBA5-4AA3-834F-27198348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9218" y="7241105"/>
            <a:ext cx="4242147" cy="333534"/>
          </a:xfrm>
          <a:custGeom xmlns:a="http://schemas.openxmlformats.org/drawingml/2006/main">
            <a:rect l="l" t="t" r="r" b="b"/>
            <a:pathLst>
              <a:path w="5656197" h="444712">
                <a:moveTo>
                  <a:pt x="0" y="0"/>
                </a:moveTo>
                <a:lnTo>
                  <a:pt x="5656197" y="0"/>
                </a:lnTo>
                <a:lnTo>
                  <a:pt x="5656197" y="444712"/>
                </a:lnTo>
                <a:lnTo>
                  <a:pt x="0" y="44471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e6705c6c37740ce">
              <a:alphaModFix amt="0"/>
            </a:blip>
            <a:stretch>
              <a:fillRect l="0" t="-201104" r="0" b="-194548"/>
            </a:stretch>
          </a:blipFill>
        </p:spPr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40543190-CE4A-4AE9-B50C-20F79DEA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9218" y="7226818"/>
            <a:ext cx="4242149" cy="3478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202124"/>
                </a:solidFill>
                <a:latin typeface="Arimo"/>
                <a:ea typeface="Arimo"/>
                <a:cs typeface="Arimo"/>
              </a:rPr>
              <a:t>선호 경로에서 기한이 빠른 요청 선택</a:t>
            </a:r>
          </a:p>
        </p:txBody>
      </p:sp>
      <p:sp>
        <p:nvSpPr>
          <p:cNvPr id="47" name="Freeform 47">
            <a:extLst xmlns:a="http://schemas.openxmlformats.org/drawingml/2006/main">
              <a:ext uri="{FF2B5EF4-FFF2-40B4-BE49-F238E27FC236}">
                <a16:creationId xmlns:a16="http://schemas.microsoft.com/office/drawing/2014/main" id="{7FD43A53-AC5A-46EF-AB0A-D31302AF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123" y="7829817"/>
            <a:ext cx="4796224" cy="581202"/>
          </a:xfrm>
          <a:custGeom xmlns:a="http://schemas.openxmlformats.org/drawingml/2006/main">
            <a:rect l="l" t="t" r="r" b="b"/>
            <a:pathLst>
              <a:path w="6394966" h="774936">
                <a:moveTo>
                  <a:pt x="0" y="0"/>
                </a:moveTo>
                <a:lnTo>
                  <a:pt x="6394966" y="0"/>
                </a:lnTo>
                <a:lnTo>
                  <a:pt x="6394966" y="774936"/>
                </a:lnTo>
                <a:lnTo>
                  <a:pt x="0" y="77493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e6705c6c37740ce">
              <a:alphaModFix amt="0"/>
            </a:blip>
            <a:stretch>
              <a:fillRect l="0" t="-126535" r="0" b="-95055"/>
            </a:stretch>
          </a:blipFill>
        </p:spPr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1F2B3215-7728-4272-9299-50EE9D54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123" y="7815530"/>
            <a:ext cx="4796228" cy="595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 b="1">
                <a:solidFill>
                  <a:srgbClr val="3659DE"/>
                </a:solidFill>
                <a:latin typeface="Arimo Bold"/>
                <a:ea typeface="Arimo Bold"/>
                <a:cs typeface="Arimo Bold"/>
              </a:rPr>
              <a:t>기기별 실행 프로필과 개발 진단을 바탕으로 행동 선택 기준을 구성</a:t>
            </a:r>
          </a:p>
        </p:txBody>
      </p:sp>
      <p:sp>
        <p:nvSpPr>
          <p:cNvPr id="50" name="Freeform 50">
            <a:extLst xmlns:a="http://schemas.openxmlformats.org/drawingml/2006/main">
              <a:ext uri="{FF2B5EF4-FFF2-40B4-BE49-F238E27FC236}">
                <a16:creationId xmlns:a16="http://schemas.microsoft.com/office/drawing/2014/main" id="{4D9AF13B-17E1-461D-8E00-21A5656C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07385" y="5042116"/>
            <a:ext cx="657965" cy="793568"/>
          </a:xfrm>
          <a:custGeom xmlns:a="http://schemas.openxmlformats.org/drawingml/2006/main">
            <a:rect l="l" t="t" r="r" b="b"/>
            <a:pathLst>
              <a:path w="877287" h="1058092">
                <a:moveTo>
                  <a:pt x="0" y="0"/>
                </a:moveTo>
                <a:lnTo>
                  <a:pt x="877287" y="0"/>
                </a:lnTo>
                <a:lnTo>
                  <a:pt x="877287" y="1058092"/>
                </a:lnTo>
                <a:lnTo>
                  <a:pt x="0" y="105809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e6705c6c37740ce">
              <a:alphaModFix amt="0"/>
            </a:blip>
            <a:stretch>
              <a:fillRect l="-54668" t="0" r="-54669" b="32361"/>
            </a:stretch>
          </a:blipFill>
        </p:spPr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D0C0E830-1E57-4552-A506-F4540D01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07385" y="5027829"/>
            <a:ext cx="657968" cy="8078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4683"/>
              </a:lnSpc>
              <a:buNone/>
            </a:pPr>
            <a:r>
              <a:rPr sz="3902" b="1">
                <a:solidFill>
                  <a:srgbClr val="3659DE"/>
                </a:solidFill>
                <a:latin typeface="Arimo Bold"/>
                <a:ea typeface="Arimo Bold"/>
                <a:cs typeface="Arimo Bold"/>
              </a:rPr>
              <a:t>➜</a:t>
            </a:r>
          </a:p>
        </p:txBody>
      </p:sp>
      <p:sp>
        <p:nvSpPr>
          <p:cNvPr id="53" name="Freeform 53">
            <a:extLst xmlns:a="http://schemas.openxmlformats.org/drawingml/2006/main">
              <a:ext uri="{FF2B5EF4-FFF2-40B4-BE49-F238E27FC236}">
                <a16:creationId xmlns:a16="http://schemas.microsoft.com/office/drawing/2014/main" id="{8E8895C2-1BD1-48E1-85D2-87EDD5D7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38499" y="2947016"/>
            <a:ext cx="3566868" cy="423690"/>
          </a:xfrm>
          <a:custGeom xmlns:a="http://schemas.openxmlformats.org/drawingml/2006/main">
            <a:rect l="l" t="t" r="r" b="b"/>
            <a:pathLst>
              <a:path w="4755824" h="564919">
                <a:moveTo>
                  <a:pt x="0" y="0"/>
                </a:moveTo>
                <a:lnTo>
                  <a:pt x="4755824" y="0"/>
                </a:lnTo>
                <a:lnTo>
                  <a:pt x="4755824" y="564919"/>
                </a:lnTo>
                <a:lnTo>
                  <a:pt x="0" y="56491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e6705c6c37740ce">
              <a:alphaModFix amt="0"/>
            </a:blip>
            <a:stretch>
              <a:fillRect l="0" t="-114996" r="0" b="-113076"/>
            </a:stretch>
          </a:blipFill>
        </p:spPr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1B1B07BB-8E58-434C-B08B-C7440227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38499" y="2939873"/>
            <a:ext cx="3566865" cy="4308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21"/>
              </a:lnSpc>
              <a:buNone/>
            </a:pPr>
            <a:r>
              <a:rPr sz="2101" b="1">
                <a:solidFill>
                  <a:srgbClr val="3659DE"/>
                </a:solidFill>
                <a:latin typeface="Arimo Bold"/>
                <a:ea typeface="Arimo Bold"/>
                <a:cs typeface="Arimo Bold"/>
              </a:rPr>
              <a:t>② BC 학습 과정</a:t>
            </a:r>
          </a:p>
        </p:txBody>
      </p:sp>
      <p:sp>
        <p:nvSpPr>
          <p:cNvPr id="56" name="Freeform 56">
            <a:extLst xmlns:a="http://schemas.openxmlformats.org/drawingml/2006/main">
              <a:ext uri="{FF2B5EF4-FFF2-40B4-BE49-F238E27FC236}">
                <a16:creationId xmlns:a16="http://schemas.microsoft.com/office/drawing/2014/main" id="{3B8F77E4-AF91-400F-B645-E94187F9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38499" y="3345256"/>
            <a:ext cx="3722701" cy="320122"/>
          </a:xfrm>
          <a:custGeom xmlns:a="http://schemas.openxmlformats.org/drawingml/2006/main">
            <a:rect l="l" t="t" r="r" b="b"/>
            <a:pathLst>
              <a:path w="4963602" h="426830">
                <a:moveTo>
                  <a:pt x="0" y="0"/>
                </a:moveTo>
                <a:lnTo>
                  <a:pt x="4963602" y="0"/>
                </a:lnTo>
                <a:lnTo>
                  <a:pt x="4963602" y="426830"/>
                </a:lnTo>
                <a:lnTo>
                  <a:pt x="0" y="42683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e6705c6c37740ce">
              <a:alphaModFix amt="0"/>
            </a:blip>
            <a:stretch>
              <a:fillRect l="0" t="-180616" r="0" b="-172566"/>
            </a:stretch>
          </a:blipFill>
        </p:spPr>
      </p:sp>
      <p:sp>
        <p:nvSpPr>
          <p:cNvPr id="57" name="TextBox 57">
            <a:extLst xmlns:a="http://schemas.openxmlformats.org/drawingml/2006/main">
              <a:ext uri="{FF2B5EF4-FFF2-40B4-BE49-F238E27FC236}">
                <a16:creationId xmlns:a16="http://schemas.microsoft.com/office/drawing/2014/main" id="{1D469909-0C7A-44D6-88C8-696C8AA7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38499" y="3338113"/>
            <a:ext cx="3722703" cy="32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91"/>
              </a:lnSpc>
              <a:buNone/>
            </a:pPr>
            <a:r>
              <a:rPr sz="1575">
                <a:solidFill>
                  <a:srgbClr val="737373"/>
                </a:solidFill>
                <a:latin typeface="Arimo"/>
                <a:ea typeface="Arimo"/>
                <a:cs typeface="Arimo"/>
              </a:rPr>
              <a:t>교사의 선택을 보고 따라 배우는 지도학습</a:t>
            </a:r>
          </a:p>
        </p:txBody>
      </p:sp>
      <p:sp>
        <p:nvSpPr>
          <p:cNvPr id="59" name="Freeform 59">
            <a:extLst xmlns:a="http://schemas.openxmlformats.org/drawingml/2006/main">
              <a:ext uri="{FF2B5EF4-FFF2-40B4-BE49-F238E27FC236}">
                <a16:creationId xmlns:a16="http://schemas.microsoft.com/office/drawing/2014/main" id="{F53F1887-57C2-457B-95CF-3EA0BB46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38499" y="3743496"/>
            <a:ext cx="3653409" cy="831151"/>
          </a:xfrm>
          <a:custGeom xmlns:a="http://schemas.openxmlformats.org/drawingml/2006/main">
            <a:rect l="l" t="t" r="r" b="b"/>
            <a:pathLst>
              <a:path w="4871212" h="1108202">
                <a:moveTo>
                  <a:pt x="0" y="132969"/>
                </a:moveTo>
                <a:cubicBezTo>
                  <a:pt x="0" y="59563"/>
                  <a:pt x="59563" y="0"/>
                  <a:pt x="132969" y="0"/>
                </a:cubicBezTo>
                <a:lnTo>
                  <a:pt x="4738243" y="0"/>
                </a:lnTo>
                <a:cubicBezTo>
                  <a:pt x="4811649" y="0"/>
                  <a:pt x="4871212" y="59563"/>
                  <a:pt x="4871212" y="132969"/>
                </a:cubicBezTo>
                <a:lnTo>
                  <a:pt x="4871212" y="975233"/>
                </a:lnTo>
                <a:cubicBezTo>
                  <a:pt x="4871212" y="1048639"/>
                  <a:pt x="4811649" y="1108202"/>
                  <a:pt x="4738243" y="1108202"/>
                </a:cubicBezTo>
                <a:lnTo>
                  <a:pt x="132969" y="1108202"/>
                </a:lnTo>
                <a:cubicBezTo>
                  <a:pt x="59563" y="1108202"/>
                  <a:pt x="0" y="1048639"/>
                  <a:pt x="0" y="975233"/>
                </a:cubicBezTo>
                <a:close/>
              </a:path>
            </a:pathLst>
          </a:custGeom>
          <a:solidFill xmlns:a="http://schemas.openxmlformats.org/drawingml/2006/main">
            <a:srgbClr val="F0F3FB"/>
          </a:solidFill>
        </p:spPr>
      </p:sp>
      <p:sp>
        <p:nvSpPr>
          <p:cNvPr id="61" name="Freeform 61">
            <a:extLst xmlns:a="http://schemas.openxmlformats.org/drawingml/2006/main">
              <a:ext uri="{FF2B5EF4-FFF2-40B4-BE49-F238E27FC236}">
                <a16:creationId xmlns:a16="http://schemas.microsoft.com/office/drawing/2014/main" id="{AF343BEF-0D66-4F77-A599-C17C613A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59704" y="3882019"/>
            <a:ext cx="3411032" cy="360445"/>
          </a:xfrm>
          <a:custGeom xmlns:a="http://schemas.openxmlformats.org/drawingml/2006/main">
            <a:rect l="l" t="t" r="r" b="b"/>
            <a:pathLst>
              <a:path w="4548043" h="480594">
                <a:moveTo>
                  <a:pt x="0" y="0"/>
                </a:moveTo>
                <a:lnTo>
                  <a:pt x="4548043" y="0"/>
                </a:lnTo>
                <a:lnTo>
                  <a:pt x="4548043" y="480594"/>
                </a:lnTo>
                <a:lnTo>
                  <a:pt x="0" y="48059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e6705c6c37740ce">
              <a:alphaModFix amt="0"/>
            </a:blip>
            <a:stretch>
              <a:fillRect l="0" t="-143562" r="0" b="-125226"/>
            </a:stretch>
          </a:blipFill>
        </p:spPr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9F4BE514-25E0-4C8F-9B46-561BF1A3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59704" y="3867732"/>
            <a:ext cx="3411036" cy="3747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161"/>
              </a:lnSpc>
              <a:buNone/>
            </a:pPr>
            <a:r>
              <a:rPr sz="1801" b="1">
                <a:solidFill>
                  <a:srgbClr val="202124"/>
                </a:solidFill>
                <a:latin typeface="Arimo Bold"/>
                <a:ea typeface="Arimo Bold"/>
                <a:cs typeface="Arimo Bold"/>
              </a:rPr>
              <a:t>시뮬레이션 상태 수집</a:t>
            </a:r>
          </a:p>
        </p:txBody>
      </p:sp>
      <p:sp>
        <p:nvSpPr>
          <p:cNvPr id="64" name="Freeform 64">
            <a:extLst xmlns:a="http://schemas.openxmlformats.org/drawingml/2006/main">
              <a:ext uri="{FF2B5EF4-FFF2-40B4-BE49-F238E27FC236}">
                <a16:creationId xmlns:a16="http://schemas.microsoft.com/office/drawing/2014/main" id="{19F1F8D5-B68E-4DC1-B343-81909F87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59704" y="4228319"/>
            <a:ext cx="3411032" cy="306705"/>
          </a:xfrm>
          <a:custGeom xmlns:a="http://schemas.openxmlformats.org/drawingml/2006/main">
            <a:rect l="l" t="t" r="r" b="b"/>
            <a:pathLst>
              <a:path w="4548043" h="408940">
                <a:moveTo>
                  <a:pt x="0" y="0"/>
                </a:moveTo>
                <a:lnTo>
                  <a:pt x="4548043" y="0"/>
                </a:lnTo>
                <a:lnTo>
                  <a:pt x="4548043" y="408940"/>
                </a:lnTo>
                <a:lnTo>
                  <a:pt x="0" y="4089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e6705c6c37740ce">
              <a:alphaModFix amt="0"/>
            </a:blip>
            <a:stretch>
              <a:fillRect l="0" t="-180008" r="0" b="-153399"/>
            </a:stretch>
          </a:blipFill>
        </p:spPr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842A9033-7E95-458E-A7AA-4939128E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59704" y="4214032"/>
            <a:ext cx="3411036" cy="3209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01"/>
              </a:lnSpc>
              <a:buNone/>
            </a:pPr>
            <a:r>
              <a:rPr sz="1500">
                <a:solidFill>
                  <a:srgbClr val="737373"/>
                </a:solidFill>
                <a:latin typeface="Arimo"/>
                <a:ea typeface="Arimo"/>
                <a:cs typeface="Arimo"/>
              </a:rPr>
              <a:t>학습용 요청 조건에서</a:t>
            </a:r>
          </a:p>
        </p:txBody>
      </p:sp>
      <p:sp>
        <p:nvSpPr>
          <p:cNvPr id="67" name="Freeform 67">
            <a:extLst xmlns:a="http://schemas.openxmlformats.org/drawingml/2006/main">
              <a:ext uri="{FF2B5EF4-FFF2-40B4-BE49-F238E27FC236}">
                <a16:creationId xmlns:a16="http://schemas.microsoft.com/office/drawing/2014/main" id="{889E3309-75F3-41D4-B966-EE0607B6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38499" y="4868970"/>
            <a:ext cx="3653409" cy="831151"/>
          </a:xfrm>
          <a:custGeom xmlns:a="http://schemas.openxmlformats.org/drawingml/2006/main">
            <a:rect l="l" t="t" r="r" b="b"/>
            <a:pathLst>
              <a:path w="4871212" h="1108202">
                <a:moveTo>
                  <a:pt x="0" y="132969"/>
                </a:moveTo>
                <a:cubicBezTo>
                  <a:pt x="0" y="59563"/>
                  <a:pt x="59563" y="0"/>
                  <a:pt x="132969" y="0"/>
                </a:cubicBezTo>
                <a:lnTo>
                  <a:pt x="4738243" y="0"/>
                </a:lnTo>
                <a:cubicBezTo>
                  <a:pt x="4811649" y="0"/>
                  <a:pt x="4871212" y="59563"/>
                  <a:pt x="4871212" y="132969"/>
                </a:cubicBezTo>
                <a:lnTo>
                  <a:pt x="4871212" y="975233"/>
                </a:lnTo>
                <a:cubicBezTo>
                  <a:pt x="4871212" y="1048639"/>
                  <a:pt x="4811649" y="1108202"/>
                  <a:pt x="4738243" y="1108202"/>
                </a:cubicBezTo>
                <a:lnTo>
                  <a:pt x="132969" y="1108202"/>
                </a:lnTo>
                <a:cubicBezTo>
                  <a:pt x="59563" y="1108202"/>
                  <a:pt x="0" y="1048639"/>
                  <a:pt x="0" y="975233"/>
                </a:cubicBezTo>
                <a:close/>
              </a:path>
            </a:pathLst>
          </a:custGeom>
          <a:solidFill xmlns:a="http://schemas.openxmlformats.org/drawingml/2006/main">
            <a:srgbClr val="F0F3FB"/>
          </a:solidFill>
        </p:spPr>
      </p:sp>
      <p:sp>
        <p:nvSpPr>
          <p:cNvPr id="69" name="Freeform 69">
            <a:extLst xmlns:a="http://schemas.openxmlformats.org/drawingml/2006/main">
              <a:ext uri="{FF2B5EF4-FFF2-40B4-BE49-F238E27FC236}">
                <a16:creationId xmlns:a16="http://schemas.microsoft.com/office/drawing/2014/main" id="{A8630194-D23D-4B20-89EA-F9706EDD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59704" y="5007483"/>
            <a:ext cx="3411032" cy="360445"/>
          </a:xfrm>
          <a:custGeom xmlns:a="http://schemas.openxmlformats.org/drawingml/2006/main">
            <a:rect l="l" t="t" r="r" b="b"/>
            <a:pathLst>
              <a:path w="4548043" h="480594">
                <a:moveTo>
                  <a:pt x="0" y="0"/>
                </a:moveTo>
                <a:lnTo>
                  <a:pt x="4548043" y="0"/>
                </a:lnTo>
                <a:lnTo>
                  <a:pt x="4548043" y="480594"/>
                </a:lnTo>
                <a:lnTo>
                  <a:pt x="0" y="48059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e6705c6c37740ce">
              <a:alphaModFix amt="0"/>
            </a:blip>
            <a:stretch>
              <a:fillRect l="0" t="-143562" r="0" b="-125226"/>
            </a:stretch>
          </a:blipFill>
        </p:spPr>
      </p:sp>
      <p:sp>
        <p:nvSpPr>
          <p:cNvPr id="70" name="TextBox 70">
            <a:extLst xmlns:a="http://schemas.openxmlformats.org/drawingml/2006/main">
              <a:ext uri="{FF2B5EF4-FFF2-40B4-BE49-F238E27FC236}">
                <a16:creationId xmlns:a16="http://schemas.microsoft.com/office/drawing/2014/main" id="{2504E170-C5AB-4CB0-91EC-CC521189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59704" y="4993196"/>
            <a:ext cx="3411036" cy="3747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161"/>
              </a:lnSpc>
              <a:buNone/>
            </a:pPr>
            <a:r>
              <a:rPr sz="1801" b="1">
                <a:solidFill>
                  <a:srgbClr val="202124"/>
                </a:solidFill>
                <a:latin typeface="Arimo Bold"/>
                <a:ea typeface="Arimo Bold"/>
                <a:cs typeface="Arimo Bold"/>
              </a:rPr>
              <a:t>교사의 정답 행동 생성</a:t>
            </a:r>
          </a:p>
        </p:txBody>
      </p:sp>
      <p:sp>
        <p:nvSpPr>
          <p:cNvPr id="72" name="Freeform 72">
            <a:extLst xmlns:a="http://schemas.openxmlformats.org/drawingml/2006/main">
              <a:ext uri="{FF2B5EF4-FFF2-40B4-BE49-F238E27FC236}">
                <a16:creationId xmlns:a16="http://schemas.microsoft.com/office/drawing/2014/main" id="{C57B6240-DC7B-4A25-8C26-E39E161F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59704" y="5353783"/>
            <a:ext cx="3411032" cy="306688"/>
          </a:xfrm>
          <a:custGeom xmlns:a="http://schemas.openxmlformats.org/drawingml/2006/main">
            <a:rect l="l" t="t" r="r" b="b"/>
            <a:pathLst>
              <a:path w="4548043" h="408918">
                <a:moveTo>
                  <a:pt x="0" y="0"/>
                </a:moveTo>
                <a:lnTo>
                  <a:pt x="4548043" y="0"/>
                </a:lnTo>
                <a:lnTo>
                  <a:pt x="4548043" y="408918"/>
                </a:lnTo>
                <a:lnTo>
                  <a:pt x="0" y="40891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e6705c6c37740ce">
              <a:alphaModFix amt="0"/>
            </a:blip>
            <a:stretch>
              <a:fillRect l="0" t="-180018" r="0" b="-153413"/>
            </a:stretch>
          </a:blipFill>
        </p:spPr>
      </p:sp>
      <p:sp>
        <p:nvSpPr>
          <p:cNvPr id="73" name="TextBox 73">
            <a:extLst xmlns:a="http://schemas.openxmlformats.org/drawingml/2006/main">
              <a:ext uri="{FF2B5EF4-FFF2-40B4-BE49-F238E27FC236}">
                <a16:creationId xmlns:a16="http://schemas.microsoft.com/office/drawing/2014/main" id="{FE98C9AC-E979-49F4-986E-A14BE842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59704" y="5339496"/>
            <a:ext cx="3411036" cy="3209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01"/>
              </a:lnSpc>
              <a:buNone/>
            </a:pPr>
            <a:r>
              <a:rPr sz="1500" spc="5">
                <a:solidFill>
                  <a:srgbClr val="737373"/>
                </a:solidFill>
                <a:latin typeface="Arimo"/>
                <a:ea typeface="Arimo"/>
                <a:cs typeface="Arimo"/>
              </a:rPr>
              <a:t>각 상태에서 교사가 선택한 행동 기록</a:t>
            </a:r>
          </a:p>
        </p:txBody>
      </p:sp>
      <p:sp>
        <p:nvSpPr>
          <p:cNvPr id="75" name="Freeform 75">
            <a:extLst xmlns:a="http://schemas.openxmlformats.org/drawingml/2006/main">
              <a:ext uri="{FF2B5EF4-FFF2-40B4-BE49-F238E27FC236}">
                <a16:creationId xmlns:a16="http://schemas.microsoft.com/office/drawing/2014/main" id="{8A0A43CD-372A-4093-B742-A919AF8C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38499" y="5994435"/>
            <a:ext cx="3653409" cy="831151"/>
          </a:xfrm>
          <a:custGeom xmlns:a="http://schemas.openxmlformats.org/drawingml/2006/main">
            <a:rect l="l" t="t" r="r" b="b"/>
            <a:pathLst>
              <a:path w="4871212" h="1108202">
                <a:moveTo>
                  <a:pt x="0" y="132969"/>
                </a:moveTo>
                <a:cubicBezTo>
                  <a:pt x="0" y="59563"/>
                  <a:pt x="59563" y="0"/>
                  <a:pt x="132969" y="0"/>
                </a:cubicBezTo>
                <a:lnTo>
                  <a:pt x="4738243" y="0"/>
                </a:lnTo>
                <a:cubicBezTo>
                  <a:pt x="4811649" y="0"/>
                  <a:pt x="4871212" y="59563"/>
                  <a:pt x="4871212" y="132969"/>
                </a:cubicBezTo>
                <a:lnTo>
                  <a:pt x="4871212" y="975233"/>
                </a:lnTo>
                <a:cubicBezTo>
                  <a:pt x="4871212" y="1048639"/>
                  <a:pt x="4811649" y="1108202"/>
                  <a:pt x="4738243" y="1108202"/>
                </a:cubicBezTo>
                <a:lnTo>
                  <a:pt x="132969" y="1108202"/>
                </a:lnTo>
                <a:cubicBezTo>
                  <a:pt x="59563" y="1108202"/>
                  <a:pt x="0" y="1048639"/>
                  <a:pt x="0" y="975233"/>
                </a:cubicBezTo>
                <a:close/>
              </a:path>
            </a:pathLst>
          </a:custGeom>
          <a:solidFill xmlns:a="http://schemas.openxmlformats.org/drawingml/2006/main">
            <a:srgbClr val="F0F3FB"/>
          </a:solidFill>
        </p:spPr>
      </p:sp>
      <p:sp>
        <p:nvSpPr>
          <p:cNvPr id="77" name="Freeform 77">
            <a:extLst xmlns:a="http://schemas.openxmlformats.org/drawingml/2006/main">
              <a:ext uri="{FF2B5EF4-FFF2-40B4-BE49-F238E27FC236}">
                <a16:creationId xmlns:a16="http://schemas.microsoft.com/office/drawing/2014/main" id="{81BE8B35-3C39-4DC3-9E98-9914105A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59704" y="6132957"/>
            <a:ext cx="3411032" cy="360413"/>
          </a:xfrm>
          <a:custGeom xmlns:a="http://schemas.openxmlformats.org/drawingml/2006/main">
            <a:rect l="l" t="t" r="r" b="b"/>
            <a:pathLst>
              <a:path w="4548043" h="480550">
                <a:moveTo>
                  <a:pt x="0" y="0"/>
                </a:moveTo>
                <a:lnTo>
                  <a:pt x="4548043" y="0"/>
                </a:lnTo>
                <a:lnTo>
                  <a:pt x="4548043" y="480550"/>
                </a:lnTo>
                <a:lnTo>
                  <a:pt x="0" y="48055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e6705c6c37740ce">
              <a:alphaModFix amt="0"/>
            </a:blip>
            <a:stretch>
              <a:fillRect l="0" t="-143576" r="0" b="-125246"/>
            </a:stretch>
          </a:blipFill>
        </p:spPr>
      </p:sp>
      <p:sp>
        <p:nvSpPr>
          <p:cNvPr id="78" name="TextBox 78">
            <a:extLst xmlns:a="http://schemas.openxmlformats.org/drawingml/2006/main">
              <a:ext uri="{FF2B5EF4-FFF2-40B4-BE49-F238E27FC236}">
                <a16:creationId xmlns:a16="http://schemas.microsoft.com/office/drawing/2014/main" id="{6BC3645F-EA26-47D0-A538-389BDD5B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59704" y="6118670"/>
            <a:ext cx="3411036" cy="3746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161"/>
              </a:lnSpc>
              <a:buNone/>
            </a:pPr>
            <a:r>
              <a:rPr sz="1801" b="1">
                <a:solidFill>
                  <a:srgbClr val="202124"/>
                </a:solidFill>
                <a:latin typeface="Arimo Bold"/>
                <a:ea typeface="Arimo Bold"/>
                <a:cs typeface="Arimo Bold"/>
              </a:rPr>
              <a:t>BC 학습 목적</a:t>
            </a:r>
          </a:p>
        </p:txBody>
      </p:sp>
      <p:sp>
        <p:nvSpPr>
          <p:cNvPr id="80" name="Freeform 80">
            <a:extLst xmlns:a="http://schemas.openxmlformats.org/drawingml/2006/main">
              <a:ext uri="{FF2B5EF4-FFF2-40B4-BE49-F238E27FC236}">
                <a16:creationId xmlns:a16="http://schemas.microsoft.com/office/drawing/2014/main" id="{5DD3DADD-2A7E-425D-98AE-BA97F4FC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59704" y="6479257"/>
            <a:ext cx="3411032" cy="306688"/>
          </a:xfrm>
          <a:custGeom xmlns:a="http://schemas.openxmlformats.org/drawingml/2006/main">
            <a:rect l="l" t="t" r="r" b="b"/>
            <a:pathLst>
              <a:path w="4548043" h="408918">
                <a:moveTo>
                  <a:pt x="0" y="0"/>
                </a:moveTo>
                <a:lnTo>
                  <a:pt x="4548043" y="0"/>
                </a:lnTo>
                <a:lnTo>
                  <a:pt x="4548043" y="408918"/>
                </a:lnTo>
                <a:lnTo>
                  <a:pt x="0" y="40891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e6705c6c37740ce">
              <a:alphaModFix amt="0"/>
            </a:blip>
            <a:stretch>
              <a:fillRect l="0" t="-180018" r="0" b="-153413"/>
            </a:stretch>
          </a:blipFill>
        </p:spPr>
      </p:sp>
      <p:sp>
        <p:nvSpPr>
          <p:cNvPr id="81" name="TextBox 81">
            <a:extLst xmlns:a="http://schemas.openxmlformats.org/drawingml/2006/main">
              <a:ext uri="{FF2B5EF4-FFF2-40B4-BE49-F238E27FC236}">
                <a16:creationId xmlns:a16="http://schemas.microsoft.com/office/drawing/2014/main" id="{00215C93-4892-4896-BFFD-7EF7F279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59704" y="6464970"/>
            <a:ext cx="3411036" cy="3209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01"/>
              </a:lnSpc>
              <a:buNone/>
            </a:pPr>
            <a:r>
              <a:rPr sz="1500">
                <a:solidFill>
                  <a:srgbClr val="737373"/>
                </a:solidFill>
                <a:latin typeface="Arimo"/>
                <a:ea typeface="Arimo"/>
                <a:cs typeface="Arimo"/>
              </a:rPr>
              <a:t>교사 판단의 모방 손실을 최소화</a:t>
            </a:r>
          </a:p>
        </p:txBody>
      </p:sp>
      <p:sp>
        <p:nvSpPr>
          <p:cNvPr id="82" name="AutoShape 82">
            <a:extLst xmlns:a="http://schemas.openxmlformats.org/drawingml/2006/main">
              <a:ext uri="{FF2B5EF4-FFF2-40B4-BE49-F238E27FC236}">
                <a16:creationId xmlns:a16="http://schemas.microsoft.com/office/drawing/2014/main" id="{2B19516B-A6B5-4C90-AF02-040741C7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7496" y="4538241"/>
            <a:ext cx="38127" cy="263220"/>
          </a:xfrm>
          <a:prstGeom xmlns:a="http://schemas.openxmlformats.org/drawingml/2006/main" prst="line">
            <a:avLst/>
          </a:prstGeom>
          <a:ln xmlns:a="http://schemas.openxmlformats.org/drawingml/2006/main" w="19050" cap="rnd">
            <a:solidFill>
              <a:srgbClr val="3659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4" name="Freeform 84">
            <a:extLst xmlns:a="http://schemas.openxmlformats.org/drawingml/2006/main">
              <a:ext uri="{FF2B5EF4-FFF2-40B4-BE49-F238E27FC236}">
                <a16:creationId xmlns:a16="http://schemas.microsoft.com/office/drawing/2014/main" id="{2BED6C19-79E0-4E24-B8D8-60E61621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83419" y="4678509"/>
            <a:ext cx="346296" cy="396781"/>
          </a:xfrm>
          <a:custGeom xmlns:a="http://schemas.openxmlformats.org/drawingml/2006/main">
            <a:rect l="l" t="t" r="r" b="b"/>
            <a:pathLst>
              <a:path w="461729" h="529042">
                <a:moveTo>
                  <a:pt x="0" y="0"/>
                </a:moveTo>
                <a:lnTo>
                  <a:pt x="461729" y="0"/>
                </a:lnTo>
                <a:lnTo>
                  <a:pt x="461729" y="529042"/>
                </a:lnTo>
                <a:lnTo>
                  <a:pt x="0" y="52904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e6705c6c37740ce">
              <a:alphaModFix amt="0"/>
            </a:blip>
            <a:stretch>
              <a:fillRect l="-59057" t="0" r="-59058" b="25815"/>
            </a:stretch>
          </a:blipFill>
        </p:spPr>
      </p:sp>
      <p:sp>
        <p:nvSpPr>
          <p:cNvPr id="85" name="TextBox 85">
            <a:extLst xmlns:a="http://schemas.openxmlformats.org/drawingml/2006/main">
              <a:ext uri="{FF2B5EF4-FFF2-40B4-BE49-F238E27FC236}">
                <a16:creationId xmlns:a16="http://schemas.microsoft.com/office/drawing/2014/main" id="{BA2FBC74-2FB0-4DDC-A88F-F887A020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83419" y="4664222"/>
            <a:ext cx="346300" cy="4110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341"/>
              </a:lnSpc>
              <a:buNone/>
            </a:pPr>
            <a:r>
              <a:rPr sz="1951" b="1">
                <a:solidFill>
                  <a:srgbClr val="3659DE"/>
                </a:solidFill>
                <a:latin typeface="Arimo Bold"/>
                <a:ea typeface="Arimo Bold"/>
                <a:cs typeface="Arimo Bold"/>
              </a:rPr>
              <a:t>▼</a:t>
            </a:r>
          </a:p>
        </p:txBody>
      </p:sp>
      <p:sp>
        <p:nvSpPr>
          <p:cNvPr id="86" name="AutoShape 86">
            <a:extLst xmlns:a="http://schemas.openxmlformats.org/drawingml/2006/main">
              <a:ext uri="{FF2B5EF4-FFF2-40B4-BE49-F238E27FC236}">
                <a16:creationId xmlns:a16="http://schemas.microsoft.com/office/drawing/2014/main" id="{5B7707AB-C0A0-46BC-9596-47698893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7496" y="5663705"/>
            <a:ext cx="38127" cy="263220"/>
          </a:xfrm>
          <a:prstGeom xmlns:a="http://schemas.openxmlformats.org/drawingml/2006/main" prst="line">
            <a:avLst/>
          </a:prstGeom>
          <a:ln xmlns:a="http://schemas.openxmlformats.org/drawingml/2006/main" w="19050" cap="rnd">
            <a:solidFill>
              <a:srgbClr val="3659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8" name="Freeform 88">
            <a:extLst xmlns:a="http://schemas.openxmlformats.org/drawingml/2006/main">
              <a:ext uri="{FF2B5EF4-FFF2-40B4-BE49-F238E27FC236}">
                <a16:creationId xmlns:a16="http://schemas.microsoft.com/office/drawing/2014/main" id="{28C0D76A-6AA6-4A24-A76B-3B256190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83419" y="5803973"/>
            <a:ext cx="346296" cy="396781"/>
          </a:xfrm>
          <a:custGeom xmlns:a="http://schemas.openxmlformats.org/drawingml/2006/main">
            <a:rect l="l" t="t" r="r" b="b"/>
            <a:pathLst>
              <a:path w="461729" h="529042">
                <a:moveTo>
                  <a:pt x="0" y="0"/>
                </a:moveTo>
                <a:lnTo>
                  <a:pt x="461729" y="0"/>
                </a:lnTo>
                <a:lnTo>
                  <a:pt x="461729" y="529042"/>
                </a:lnTo>
                <a:lnTo>
                  <a:pt x="0" y="52904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e6705c6c37740ce">
              <a:alphaModFix amt="0"/>
            </a:blip>
            <a:stretch>
              <a:fillRect l="-59057" t="0" r="-59058" b="25815"/>
            </a:stretch>
          </a:blipFill>
        </p:spPr>
      </p:sp>
      <p:sp>
        <p:nvSpPr>
          <p:cNvPr id="89" name="TextBox 89">
            <a:extLst xmlns:a="http://schemas.openxmlformats.org/drawingml/2006/main">
              <a:ext uri="{FF2B5EF4-FFF2-40B4-BE49-F238E27FC236}">
                <a16:creationId xmlns:a16="http://schemas.microsoft.com/office/drawing/2014/main" id="{AE8E2622-10C4-4C78-ABED-BE88C427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83419" y="5789686"/>
            <a:ext cx="346300" cy="4110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341"/>
              </a:lnSpc>
              <a:buNone/>
            </a:pPr>
            <a:r>
              <a:rPr sz="1951" b="1">
                <a:solidFill>
                  <a:srgbClr val="3659DE"/>
                </a:solidFill>
                <a:latin typeface="Arimo Bold"/>
                <a:ea typeface="Arimo Bold"/>
                <a:cs typeface="Arimo Bold"/>
              </a:rPr>
              <a:t>▼</a:t>
            </a:r>
          </a:p>
        </p:txBody>
      </p:sp>
      <p:sp>
        <p:nvSpPr>
          <p:cNvPr id="90" name="AutoShape 90">
            <a:extLst xmlns:a="http://schemas.openxmlformats.org/drawingml/2006/main">
              <a:ext uri="{FF2B5EF4-FFF2-40B4-BE49-F238E27FC236}">
                <a16:creationId xmlns:a16="http://schemas.microsoft.com/office/drawing/2014/main" id="{B3E227A4-6821-4533-9A52-3F30B0A2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7496" y="6789170"/>
            <a:ext cx="38127" cy="263220"/>
          </a:xfrm>
          <a:prstGeom xmlns:a="http://schemas.openxmlformats.org/drawingml/2006/main" prst="line">
            <a:avLst/>
          </a:prstGeom>
          <a:ln xmlns:a="http://schemas.openxmlformats.org/drawingml/2006/main" w="19050" cap="rnd">
            <a:solidFill>
              <a:srgbClr val="3659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2" name="Freeform 92">
            <a:extLst xmlns:a="http://schemas.openxmlformats.org/drawingml/2006/main">
              <a:ext uri="{FF2B5EF4-FFF2-40B4-BE49-F238E27FC236}">
                <a16:creationId xmlns:a16="http://schemas.microsoft.com/office/drawing/2014/main" id="{72880898-780B-4B67-AB2F-B8E07A14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83419" y="6929438"/>
            <a:ext cx="346296" cy="396781"/>
          </a:xfrm>
          <a:custGeom xmlns:a="http://schemas.openxmlformats.org/drawingml/2006/main">
            <a:rect l="l" t="t" r="r" b="b"/>
            <a:pathLst>
              <a:path w="461729" h="529042">
                <a:moveTo>
                  <a:pt x="0" y="0"/>
                </a:moveTo>
                <a:lnTo>
                  <a:pt x="461729" y="0"/>
                </a:lnTo>
                <a:lnTo>
                  <a:pt x="461729" y="529042"/>
                </a:lnTo>
                <a:lnTo>
                  <a:pt x="0" y="52904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e6705c6c37740ce">
              <a:alphaModFix amt="0"/>
            </a:blip>
            <a:stretch>
              <a:fillRect l="-59057" t="0" r="-59058" b="25815"/>
            </a:stretch>
          </a:blipFill>
        </p:spPr>
      </p:sp>
      <p:sp>
        <p:nvSpPr>
          <p:cNvPr id="93" name="TextBox 93">
            <a:extLst xmlns:a="http://schemas.openxmlformats.org/drawingml/2006/main">
              <a:ext uri="{FF2B5EF4-FFF2-40B4-BE49-F238E27FC236}">
                <a16:creationId xmlns:a16="http://schemas.microsoft.com/office/drawing/2014/main" id="{84738C6C-89C8-4C40-982E-56D0D207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83419" y="6915151"/>
            <a:ext cx="346300" cy="4110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341"/>
              </a:lnSpc>
              <a:buNone/>
            </a:pPr>
            <a:r>
              <a:rPr sz="1951" b="1">
                <a:solidFill>
                  <a:srgbClr val="3659DE"/>
                </a:solidFill>
                <a:latin typeface="Arimo Bold"/>
                <a:ea typeface="Arimo Bold"/>
                <a:cs typeface="Arimo Bold"/>
              </a:rPr>
              <a:t>▼</a:t>
            </a:r>
          </a:p>
        </p:txBody>
      </p:sp>
      <p:sp>
        <p:nvSpPr>
          <p:cNvPr id="95" name="Freeform 95">
            <a:extLst xmlns:a="http://schemas.openxmlformats.org/drawingml/2006/main">
              <a:ext uri="{FF2B5EF4-FFF2-40B4-BE49-F238E27FC236}">
                <a16:creationId xmlns:a16="http://schemas.microsoft.com/office/drawing/2014/main" id="{880E2E12-99CD-4F74-9FE8-3A69DEB7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38499" y="7102592"/>
            <a:ext cx="3653504" cy="831151"/>
          </a:xfrm>
          <a:custGeom xmlns:a="http://schemas.openxmlformats.org/drawingml/2006/main">
            <a:rect l="l" t="t" r="r" b="b"/>
            <a:pathLst>
              <a:path w="4871339" h="1108202">
                <a:moveTo>
                  <a:pt x="0" y="110871"/>
                </a:moveTo>
                <a:cubicBezTo>
                  <a:pt x="0" y="49657"/>
                  <a:pt x="49657" y="0"/>
                  <a:pt x="110871" y="0"/>
                </a:cubicBezTo>
                <a:lnTo>
                  <a:pt x="4760468" y="0"/>
                </a:lnTo>
                <a:cubicBezTo>
                  <a:pt x="4821682" y="0"/>
                  <a:pt x="4871339" y="49657"/>
                  <a:pt x="4871339" y="110871"/>
                </a:cubicBezTo>
                <a:lnTo>
                  <a:pt x="4871339" y="997331"/>
                </a:lnTo>
                <a:cubicBezTo>
                  <a:pt x="4871339" y="1058545"/>
                  <a:pt x="4821682" y="1108202"/>
                  <a:pt x="4760468" y="1108202"/>
                </a:cubicBezTo>
                <a:lnTo>
                  <a:pt x="110871" y="1108202"/>
                </a:lnTo>
                <a:cubicBezTo>
                  <a:pt x="49657" y="1108202"/>
                  <a:pt x="0" y="1058545"/>
                  <a:pt x="0" y="997331"/>
                </a:cubicBezTo>
                <a:close/>
              </a:path>
            </a:pathLst>
          </a:custGeom>
          <a:solidFill xmlns:a="http://schemas.openxmlformats.org/drawingml/2006/main">
            <a:srgbClr val="3659DE"/>
          </a:solidFill>
        </p:spPr>
      </p:sp>
      <p:sp>
        <p:nvSpPr>
          <p:cNvPr id="97" name="Freeform 97">
            <a:extLst xmlns:a="http://schemas.openxmlformats.org/drawingml/2006/main">
              <a:ext uri="{FF2B5EF4-FFF2-40B4-BE49-F238E27FC236}">
                <a16:creationId xmlns:a16="http://schemas.microsoft.com/office/drawing/2014/main" id="{206E9D8C-68FB-45E9-8ECA-AE1C483D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07765" y="7189165"/>
            <a:ext cx="3514922" cy="360441"/>
          </a:xfrm>
          <a:custGeom xmlns:a="http://schemas.openxmlformats.org/drawingml/2006/main">
            <a:rect l="l" t="t" r="r" b="b"/>
            <a:pathLst>
              <a:path w="4686564" h="480589">
                <a:moveTo>
                  <a:pt x="0" y="0"/>
                </a:moveTo>
                <a:lnTo>
                  <a:pt x="4686564" y="0"/>
                </a:lnTo>
                <a:lnTo>
                  <a:pt x="4686564" y="480589"/>
                </a:lnTo>
                <a:lnTo>
                  <a:pt x="0" y="48058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e6705c6c37740ce">
              <a:alphaModFix amt="0"/>
            </a:blip>
            <a:stretch>
              <a:fillRect l="0" t="-144376" r="0" b="-135648"/>
            </a:stretch>
          </a:blipFill>
        </p:spPr>
      </p:sp>
      <p:sp>
        <p:nvSpPr>
          <p:cNvPr id="98" name="TextBox 98">
            <a:extLst xmlns:a="http://schemas.openxmlformats.org/drawingml/2006/main">
              <a:ext uri="{FF2B5EF4-FFF2-40B4-BE49-F238E27FC236}">
                <a16:creationId xmlns:a16="http://schemas.microsoft.com/office/drawing/2014/main" id="{B1A19263-92E1-4006-89BB-313FB381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07765" y="7174878"/>
            <a:ext cx="3514925" cy="3747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161"/>
              </a:lnSpc>
              <a:buNone/>
            </a:pPr>
            <a:r>
              <a:rPr sz="1801" b="1">
                <a:solidFill>
                  <a:srgbClr val="FFFFFF"/>
                </a:solidFill>
                <a:latin typeface="Arimo Bold"/>
                <a:ea typeface="Arimo Bold"/>
                <a:cs typeface="Arimo Bold"/>
              </a:rPr>
              <a:t>학습된 신경망 정책</a:t>
            </a:r>
          </a:p>
        </p:txBody>
      </p:sp>
      <p:sp>
        <p:nvSpPr>
          <p:cNvPr id="100" name="Freeform 100">
            <a:extLst xmlns:a="http://schemas.openxmlformats.org/drawingml/2006/main">
              <a:ext uri="{FF2B5EF4-FFF2-40B4-BE49-F238E27FC236}">
                <a16:creationId xmlns:a16="http://schemas.microsoft.com/office/drawing/2014/main" id="{2AE48EC6-275A-4A81-AB96-18D5759A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07765" y="7535466"/>
            <a:ext cx="3514922" cy="333534"/>
          </a:xfrm>
          <a:custGeom xmlns:a="http://schemas.openxmlformats.org/drawingml/2006/main">
            <a:rect l="l" t="t" r="r" b="b"/>
            <a:pathLst>
              <a:path w="4686564" h="444712">
                <a:moveTo>
                  <a:pt x="0" y="0"/>
                </a:moveTo>
                <a:lnTo>
                  <a:pt x="4686564" y="0"/>
                </a:lnTo>
                <a:lnTo>
                  <a:pt x="4686564" y="444712"/>
                </a:lnTo>
                <a:lnTo>
                  <a:pt x="0" y="44471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e6705c6c37740ce">
              <a:alphaModFix amt="0"/>
            </a:blip>
            <a:stretch>
              <a:fillRect l="0" t="-158619" r="0" b="-152063"/>
            </a:stretch>
          </a:blipFill>
        </p:spPr>
      </p:sp>
      <p:sp>
        <p:nvSpPr>
          <p:cNvPr id="101" name="TextBox 101">
            <a:extLst xmlns:a="http://schemas.openxmlformats.org/drawingml/2006/main">
              <a:ext uri="{FF2B5EF4-FFF2-40B4-BE49-F238E27FC236}">
                <a16:creationId xmlns:a16="http://schemas.microsoft.com/office/drawing/2014/main" id="{B01AE71B-5DD3-423F-B598-FD39C2AB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07765" y="7521179"/>
            <a:ext cx="3514925" cy="3478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981"/>
              </a:lnSpc>
              <a:buNone/>
            </a:pPr>
            <a:r>
              <a:rPr sz="1651">
                <a:solidFill>
                  <a:srgbClr val="FFFFFF"/>
                </a:solidFill>
                <a:latin typeface="Arimo"/>
                <a:ea typeface="Arimo"/>
                <a:cs typeface="Arimo"/>
              </a:rPr>
              <a:t>가중치 고정 후 평가</a:t>
            </a:r>
          </a:p>
        </p:txBody>
      </p:sp>
      <p:sp>
        <p:nvSpPr>
          <p:cNvPr id="103" name="Freeform 103">
            <a:extLst xmlns:a="http://schemas.openxmlformats.org/drawingml/2006/main">
              <a:ext uri="{FF2B5EF4-FFF2-40B4-BE49-F238E27FC236}">
                <a16:creationId xmlns:a16="http://schemas.microsoft.com/office/drawing/2014/main" id="{7657E24E-1C40-4F34-B19C-E441E82D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38499" y="8020279"/>
            <a:ext cx="3809275" cy="306709"/>
          </a:xfrm>
          <a:custGeom xmlns:a="http://schemas.openxmlformats.org/drawingml/2006/main">
            <a:rect l="l" t="t" r="r" b="b"/>
            <a:pathLst>
              <a:path w="5079034" h="408945">
                <a:moveTo>
                  <a:pt x="0" y="0"/>
                </a:moveTo>
                <a:lnTo>
                  <a:pt x="5079034" y="0"/>
                </a:lnTo>
                <a:lnTo>
                  <a:pt x="5079034" y="408945"/>
                </a:lnTo>
                <a:lnTo>
                  <a:pt x="0" y="40894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e6705c6c37740ce">
              <a:alphaModFix amt="0"/>
            </a:blip>
            <a:stretch>
              <a:fillRect l="0" t="-194015" r="0" b="-189986"/>
            </a:stretch>
          </a:blipFill>
        </p:spPr>
      </p:sp>
      <p:sp>
        <p:nvSpPr>
          <p:cNvPr id="104" name="TextBox 104">
            <a:extLst xmlns:a="http://schemas.openxmlformats.org/drawingml/2006/main">
              <a:ext uri="{FF2B5EF4-FFF2-40B4-BE49-F238E27FC236}">
                <a16:creationId xmlns:a16="http://schemas.microsoft.com/office/drawing/2014/main" id="{F4CF4CD4-ABC5-4B19-9E6A-FB5B6F6C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38499" y="8005992"/>
            <a:ext cx="3809276" cy="3209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01"/>
              </a:lnSpc>
              <a:buNone/>
            </a:pPr>
            <a:r>
              <a:rPr sz="1500">
                <a:solidFill>
                  <a:srgbClr val="737373"/>
                </a:solidFill>
                <a:latin typeface="Arimo"/>
                <a:ea typeface="Arimo"/>
                <a:cs typeface="Arimo"/>
              </a:rPr>
              <a:t>실기기가 아닌 시뮬레이션 상태에서 생성</a:t>
            </a:r>
          </a:p>
        </p:txBody>
      </p:sp>
      <p:sp>
        <p:nvSpPr>
          <p:cNvPr id="106" name="Freeform 106">
            <a:extLst xmlns:a="http://schemas.openxmlformats.org/drawingml/2006/main">
              <a:ext uri="{FF2B5EF4-FFF2-40B4-BE49-F238E27FC236}">
                <a16:creationId xmlns:a16="http://schemas.microsoft.com/office/drawing/2014/main" id="{234E8449-DED6-482D-82C0-59116151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03613" y="5042116"/>
            <a:ext cx="657965" cy="793568"/>
          </a:xfrm>
          <a:custGeom xmlns:a="http://schemas.openxmlformats.org/drawingml/2006/main">
            <a:rect l="l" t="t" r="r" b="b"/>
            <a:pathLst>
              <a:path w="877287" h="1058092">
                <a:moveTo>
                  <a:pt x="0" y="0"/>
                </a:moveTo>
                <a:lnTo>
                  <a:pt x="877287" y="0"/>
                </a:lnTo>
                <a:lnTo>
                  <a:pt x="877287" y="1058092"/>
                </a:lnTo>
                <a:lnTo>
                  <a:pt x="0" y="105809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e6705c6c37740ce">
              <a:alphaModFix amt="0"/>
            </a:blip>
            <a:stretch>
              <a:fillRect l="-54668" t="0" r="-54669" b="32361"/>
            </a:stretch>
          </a:blipFill>
        </p:spPr>
      </p:sp>
      <p:sp>
        <p:nvSpPr>
          <p:cNvPr id="107" name="TextBox 107">
            <a:extLst xmlns:a="http://schemas.openxmlformats.org/drawingml/2006/main">
              <a:ext uri="{FF2B5EF4-FFF2-40B4-BE49-F238E27FC236}">
                <a16:creationId xmlns:a16="http://schemas.microsoft.com/office/drawing/2014/main" id="{D31AB6F2-0F6E-4FEC-99E5-A8FFA596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03613" y="5027829"/>
            <a:ext cx="657968" cy="8078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4683"/>
              </a:lnSpc>
              <a:buNone/>
            </a:pPr>
            <a:r>
              <a:rPr sz="3902" b="1">
                <a:solidFill>
                  <a:srgbClr val="3659DE"/>
                </a:solidFill>
                <a:latin typeface="Arimo Bold"/>
                <a:ea typeface="Arimo Bold"/>
                <a:cs typeface="Arimo Bold"/>
              </a:rPr>
              <a:t>➜</a:t>
            </a:r>
          </a:p>
        </p:txBody>
      </p:sp>
      <p:sp>
        <p:nvSpPr>
          <p:cNvPr id="187" name="Freeform 187">
            <a:extLst xmlns:a="http://schemas.openxmlformats.org/drawingml/2006/main">
              <a:ext uri="{FF2B5EF4-FFF2-40B4-BE49-F238E27FC236}">
                <a16:creationId xmlns:a16="http://schemas.microsoft.com/office/drawing/2014/main" id="{1C982FF4-EC7A-495E-A789-EE8E920A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455" y="8712870"/>
            <a:ext cx="16622296" cy="550180"/>
          </a:xfrm>
          <a:custGeom xmlns:a="http://schemas.openxmlformats.org/drawingml/2006/main">
            <a:rect l="l" t="t" r="r" b="b"/>
            <a:pathLst>
              <a:path w="22163061" h="733574">
                <a:moveTo>
                  <a:pt x="0" y="0"/>
                </a:moveTo>
                <a:lnTo>
                  <a:pt x="22163061" y="0"/>
                </a:lnTo>
                <a:lnTo>
                  <a:pt x="22163061" y="733574"/>
                </a:lnTo>
                <a:lnTo>
                  <a:pt x="0" y="73357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e6705c6c37740ce">
              <a:alphaModFix amt="0"/>
            </a:blip>
            <a:stretch>
              <a:fillRect l="0" t="-541483" r="0" b="-535897"/>
            </a:stretch>
          </a:blipFill>
        </p:spPr>
      </p:sp>
      <p:sp>
        <p:nvSpPr>
          <p:cNvPr id="190" name="Freeform 190">
            <a:extLst xmlns:a="http://schemas.openxmlformats.org/drawingml/2006/main">
              <a:ext uri="{FF2B5EF4-FFF2-40B4-BE49-F238E27FC236}">
                <a16:creationId xmlns:a16="http://schemas.microsoft.com/office/drawing/2014/main" id="{B24C5CDC-9670-4C0F-A6A9-8323F9DE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455" y="9232325"/>
            <a:ext cx="16622296" cy="333534"/>
          </a:xfrm>
          <a:custGeom xmlns:a="http://schemas.openxmlformats.org/drawingml/2006/main">
            <a:rect l="l" t="t" r="r" b="b"/>
            <a:pathLst>
              <a:path w="22163061" h="444712">
                <a:moveTo>
                  <a:pt x="0" y="0"/>
                </a:moveTo>
                <a:lnTo>
                  <a:pt x="22163061" y="0"/>
                </a:lnTo>
                <a:lnTo>
                  <a:pt x="22163061" y="444712"/>
                </a:lnTo>
                <a:lnTo>
                  <a:pt x="0" y="44471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e6705c6c37740ce">
              <a:alphaModFix amt="0"/>
            </a:blip>
            <a:stretch>
              <a:fillRect l="0" t="-924351" r="0" b="-917795"/>
            </a:stretch>
          </a:blipFill>
        </p:spPr>
      </p:sp>
      <p:sp>
        <p:nvSpPr>
          <p:cNvPr id="194" name="nav-0">
            <a:extLst xmlns:a="http://schemas.openxmlformats.org/drawingml/2006/main">
              <a:ext uri="{FF2B5EF4-FFF2-40B4-BE49-F238E27FC236}">
                <a16:creationId xmlns:a16="http://schemas.microsoft.com/office/drawing/2014/main" id="{346ECD05-7588-4AFA-A9EA-B2187085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9550"/>
            <a:ext cx="1390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defPPr>
            <a:lvl1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1pPr>
            <a:lvl2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2pPr>
            <a:lvl3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3pPr>
            <a:lvl4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4pPr>
            <a:lvl5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5pPr>
            <a:lvl6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6pPr>
            <a:lvl7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7pPr>
            <a:lvl8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8pPr>
            <a:lvl9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pPr>
            <a:r>
              <a: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rPr>
              <a:t>배경·문제</a:t>
            </a:r>
          </a:p>
        </p:txBody>
      </p:sp>
      <p:sp>
        <p:nvSpPr>
          <p:cNvPr id="195" name="nav-1">
            <a:extLst xmlns:a="http://schemas.openxmlformats.org/drawingml/2006/main">
              <a:ext uri="{FF2B5EF4-FFF2-40B4-BE49-F238E27FC236}">
                <a16:creationId xmlns:a16="http://schemas.microsoft.com/office/drawing/2014/main" id="{ECF489E2-C392-4307-A6AC-BB669A51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09550"/>
            <a:ext cx="1390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defPPr>
            <a:lvl1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1pPr>
            <a:lvl2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2pPr>
            <a:lvl3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3pPr>
            <a:lvl4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4pPr>
            <a:lvl5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5pPr>
            <a:lvl6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6pPr>
            <a:lvl7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7pPr>
            <a:lvl8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8pPr>
            <a:lvl9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pPr>
            <a:r>
              <a: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rPr>
              <a:t>실측·모형</a:t>
            </a:r>
          </a:p>
        </p:txBody>
      </p:sp>
      <p:sp>
        <p:nvSpPr>
          <p:cNvPr id="196" name="nav-2">
            <a:extLst xmlns:a="http://schemas.openxmlformats.org/drawingml/2006/main">
              <a:ext uri="{FF2B5EF4-FFF2-40B4-BE49-F238E27FC236}">
                <a16:creationId xmlns:a16="http://schemas.microsoft.com/office/drawing/2014/main" id="{9D1E2E84-C8D4-4CFD-B224-4EBB086F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09550"/>
            <a:ext cx="1390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3659DE"/>
                </a:solidFill>
                <a:latin typeface="Arimo Bold"/>
                <a:ea typeface="Arimo Bold"/>
                <a:cs typeface="Arimo Bold"/>
              </a:defRPr>
            </a:defPPr>
            <a:lvl1pPr algn="l">
              <a:buNone/>
              <a:defRPr sz="1800" b="1">
                <a:solidFill>
                  <a:srgbClr val="3659DE"/>
                </a:solidFill>
                <a:latin typeface="Arimo Bold"/>
                <a:ea typeface="Arimo Bold"/>
                <a:cs typeface="Arimo Bold"/>
              </a:defRPr>
            </a:lvl1pPr>
            <a:lvl2pPr algn="l">
              <a:buNone/>
              <a:defRPr sz="1800" b="1">
                <a:solidFill>
                  <a:srgbClr val="3659DE"/>
                </a:solidFill>
                <a:latin typeface="Arimo Bold"/>
                <a:ea typeface="Arimo Bold"/>
                <a:cs typeface="Arimo Bold"/>
              </a:defRPr>
            </a:lvl2pPr>
            <a:lvl3pPr algn="l">
              <a:buNone/>
              <a:defRPr sz="1800" b="1">
                <a:solidFill>
                  <a:srgbClr val="3659DE"/>
                </a:solidFill>
                <a:latin typeface="Arimo Bold"/>
                <a:ea typeface="Arimo Bold"/>
                <a:cs typeface="Arimo Bold"/>
              </a:defRPr>
            </a:lvl3pPr>
            <a:lvl4pPr algn="l">
              <a:buNone/>
              <a:defRPr sz="1800" b="1">
                <a:solidFill>
                  <a:srgbClr val="3659DE"/>
                </a:solidFill>
                <a:latin typeface="Arimo Bold"/>
                <a:ea typeface="Arimo Bold"/>
                <a:cs typeface="Arimo Bold"/>
              </a:defRPr>
            </a:lvl4pPr>
            <a:lvl5pPr algn="l">
              <a:buNone/>
              <a:defRPr sz="1800" b="1">
                <a:solidFill>
                  <a:srgbClr val="3659DE"/>
                </a:solidFill>
                <a:latin typeface="Arimo Bold"/>
                <a:ea typeface="Arimo Bold"/>
                <a:cs typeface="Arimo Bold"/>
              </a:defRPr>
            </a:lvl5pPr>
            <a:lvl6pPr algn="l">
              <a:buNone/>
              <a:defRPr sz="1800" b="1">
                <a:solidFill>
                  <a:srgbClr val="3659DE"/>
                </a:solidFill>
                <a:latin typeface="Arimo Bold"/>
                <a:ea typeface="Arimo Bold"/>
                <a:cs typeface="Arimo Bold"/>
              </a:defRPr>
            </a:lvl6pPr>
            <a:lvl7pPr algn="l">
              <a:buNone/>
              <a:defRPr sz="1800" b="1">
                <a:solidFill>
                  <a:srgbClr val="3659DE"/>
                </a:solidFill>
                <a:latin typeface="Arimo Bold"/>
                <a:ea typeface="Arimo Bold"/>
                <a:cs typeface="Arimo Bold"/>
              </a:defRPr>
            </a:lvl7pPr>
            <a:lvl8pPr algn="l">
              <a:buNone/>
              <a:defRPr sz="1800" b="1">
                <a:solidFill>
                  <a:srgbClr val="3659DE"/>
                </a:solidFill>
                <a:latin typeface="Arimo Bold"/>
                <a:ea typeface="Arimo Bold"/>
                <a:cs typeface="Arimo Bold"/>
              </a:defRPr>
            </a:lvl8pPr>
            <a:lvl9pPr algn="l">
              <a:buNone/>
              <a:defRPr sz="1800" b="1">
                <a:solidFill>
                  <a:srgbClr val="3659DE"/>
                </a:solidFill>
                <a:latin typeface="Arimo Bold"/>
                <a:ea typeface="Arimo Bold"/>
                <a:cs typeface="Arimo Bold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3659DE"/>
                </a:solidFill>
                <a:latin typeface="Arimo Bold"/>
                <a:ea typeface="Arimo Bold"/>
                <a:cs typeface="Arimo Bold"/>
              </a:defRPr>
            </a:pPr>
            <a:r>
              <a:rPr sz="1800" b="1">
                <a:solidFill>
                  <a:srgbClr val="3659DE"/>
                </a:solidFill>
                <a:latin typeface="Arimo Bold"/>
                <a:ea typeface="Arimo Bold"/>
                <a:cs typeface="Arimo Bold"/>
              </a:rPr>
              <a:t>정책 설계</a:t>
            </a:r>
          </a:p>
        </p:txBody>
      </p:sp>
      <p:sp>
        <p:nvSpPr>
          <p:cNvPr id="197" name="nav-3">
            <a:extLst xmlns:a="http://schemas.openxmlformats.org/drawingml/2006/main">
              <a:ext uri="{FF2B5EF4-FFF2-40B4-BE49-F238E27FC236}">
                <a16:creationId xmlns:a16="http://schemas.microsoft.com/office/drawing/2014/main" id="{87AA48F2-A7F1-4702-B356-0F17DBD3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9550"/>
            <a:ext cx="1390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defPPr>
            <a:lvl1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1pPr>
            <a:lvl2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2pPr>
            <a:lvl3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3pPr>
            <a:lvl4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4pPr>
            <a:lvl5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5pPr>
            <a:lvl6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6pPr>
            <a:lvl7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7pPr>
            <a:lvl8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8pPr>
            <a:lvl9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pPr>
            <a:r>
              <a: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rPr>
              <a:t>평가 설계</a:t>
            </a:r>
          </a:p>
        </p:txBody>
      </p:sp>
      <p:sp>
        <p:nvSpPr>
          <p:cNvPr id="198" name="nav-4">
            <a:extLst xmlns:a="http://schemas.openxmlformats.org/drawingml/2006/main">
              <a:ext uri="{FF2B5EF4-FFF2-40B4-BE49-F238E27FC236}">
                <a16:creationId xmlns:a16="http://schemas.microsoft.com/office/drawing/2014/main" id="{06EA5E91-1A83-4FCC-A0DE-8E9DF67F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9550"/>
            <a:ext cx="1390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defPPr>
            <a:lvl1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1pPr>
            <a:lvl2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2pPr>
            <a:lvl3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3pPr>
            <a:lvl4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4pPr>
            <a:lvl5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5pPr>
            <a:lvl6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6pPr>
            <a:lvl7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7pPr>
            <a:lvl8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8pPr>
            <a:lvl9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pPr>
            <a:r>
              <a: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rPr>
              <a:t>비교 결과</a:t>
            </a:r>
          </a:p>
        </p:txBody>
      </p:sp>
      <p:sp>
        <p:nvSpPr>
          <p:cNvPr id="199" name="nav-5">
            <a:extLst xmlns:a="http://schemas.openxmlformats.org/drawingml/2006/main">
              <a:ext uri="{FF2B5EF4-FFF2-40B4-BE49-F238E27FC236}">
                <a16:creationId xmlns:a16="http://schemas.microsoft.com/office/drawing/2014/main" id="{6C35E7DA-7952-4A5D-BB83-5C287ACC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9550"/>
            <a:ext cx="1390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defPPr>
            <a:lvl1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1pPr>
            <a:lvl2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2pPr>
            <a:lvl3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3pPr>
            <a:lvl4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4pPr>
            <a:lvl5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5pPr>
            <a:lvl6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6pPr>
            <a:lvl7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7pPr>
            <a:lvl8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8pPr>
            <a:lvl9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pPr>
            <a:r>
              <a: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rPr>
              <a:t>결론·과제</a:t>
            </a:r>
          </a:p>
        </p:txBody>
      </p:sp>
      <p:sp>
        <p:nvSpPr>
          <p:cNvPr id="200" name="active-nav-underline">
            <a:extLst xmlns:a="http://schemas.openxmlformats.org/drawingml/2006/main">
              <a:ext uri="{FF2B5EF4-FFF2-40B4-BE49-F238E27FC236}">
                <a16:creationId xmlns:a16="http://schemas.microsoft.com/office/drawing/2014/main" id="{662C3A8F-2008-40D8-B024-FA9EB64D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04825"/>
            <a:ext cx="1019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659DE"/>
            </a:solidFill>
          </a:ln>
        </p:spPr>
      </p:sp>
      <p:sp>
        <p:nvSpPr>
          <p:cNvPr id="201" name="competition">
            <a:extLst xmlns:a="http://schemas.openxmlformats.org/drawingml/2006/main">
              <a:ext uri="{FF2B5EF4-FFF2-40B4-BE49-F238E27FC236}">
                <a16:creationId xmlns:a16="http://schemas.microsoft.com/office/drawing/2014/main" id="{E507C828-983C-46B3-93E0-478F79DE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19075"/>
            <a:ext cx="5381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98" b="0">
                <a:solidFill>
                  <a:srgbClr val="68768D"/>
                </a:solidFill>
                <a:latin typeface="Arimo"/>
                <a:ea typeface="Arimo"/>
                <a:cs typeface="Arimo"/>
              </a:defRPr>
            </a:defPPr>
            <a:lvl1pPr algn="r">
              <a:buNone/>
              <a:defRPr sz="1598" b="0">
                <a:solidFill>
                  <a:srgbClr val="68768D"/>
                </a:solidFill>
                <a:latin typeface="Arimo"/>
                <a:ea typeface="Arimo"/>
                <a:cs typeface="Arimo"/>
              </a:defRPr>
            </a:lvl1pPr>
            <a:lvl2pPr algn="r">
              <a:buNone/>
              <a:defRPr sz="1598" b="0">
                <a:solidFill>
                  <a:srgbClr val="68768D"/>
                </a:solidFill>
                <a:latin typeface="Arimo"/>
                <a:ea typeface="Arimo"/>
                <a:cs typeface="Arimo"/>
              </a:defRPr>
            </a:lvl2pPr>
            <a:lvl3pPr algn="r">
              <a:buNone/>
              <a:defRPr sz="1598" b="0">
                <a:solidFill>
                  <a:srgbClr val="68768D"/>
                </a:solidFill>
                <a:latin typeface="Arimo"/>
                <a:ea typeface="Arimo"/>
                <a:cs typeface="Arimo"/>
              </a:defRPr>
            </a:lvl3pPr>
            <a:lvl4pPr algn="r">
              <a:buNone/>
              <a:defRPr sz="1598" b="0">
                <a:solidFill>
                  <a:srgbClr val="68768D"/>
                </a:solidFill>
                <a:latin typeface="Arimo"/>
                <a:ea typeface="Arimo"/>
                <a:cs typeface="Arimo"/>
              </a:defRPr>
            </a:lvl4pPr>
            <a:lvl5pPr algn="r">
              <a:buNone/>
              <a:defRPr sz="1598" b="0">
                <a:solidFill>
                  <a:srgbClr val="68768D"/>
                </a:solidFill>
                <a:latin typeface="Arimo"/>
                <a:ea typeface="Arimo"/>
                <a:cs typeface="Arimo"/>
              </a:defRPr>
            </a:lvl5pPr>
            <a:lvl6pPr algn="r">
              <a:buNone/>
              <a:defRPr sz="1598" b="0">
                <a:solidFill>
                  <a:srgbClr val="68768D"/>
                </a:solidFill>
                <a:latin typeface="Arimo"/>
                <a:ea typeface="Arimo"/>
                <a:cs typeface="Arimo"/>
              </a:defRPr>
            </a:lvl6pPr>
            <a:lvl7pPr algn="r">
              <a:buNone/>
              <a:defRPr sz="1598" b="0">
                <a:solidFill>
                  <a:srgbClr val="68768D"/>
                </a:solidFill>
                <a:latin typeface="Arimo"/>
                <a:ea typeface="Arimo"/>
                <a:cs typeface="Arimo"/>
              </a:defRPr>
            </a:lvl7pPr>
            <a:lvl8pPr algn="r">
              <a:buNone/>
              <a:defRPr sz="1598" b="0">
                <a:solidFill>
                  <a:srgbClr val="68768D"/>
                </a:solidFill>
                <a:latin typeface="Arimo"/>
                <a:ea typeface="Arimo"/>
                <a:cs typeface="Arimo"/>
              </a:defRPr>
            </a:lvl8pPr>
            <a:lvl9pPr algn="r">
              <a:buNone/>
              <a:defRPr sz="1598" b="0">
                <a:solidFill>
                  <a:srgbClr val="68768D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r">
              <a:buNone/>
              <a:defRPr sz="1598" b="0">
                <a:solidFill>
                  <a:srgbClr val="68768D"/>
                </a:solidFill>
                <a:latin typeface="Arimo"/>
                <a:ea typeface="Arimo"/>
                <a:cs typeface="Arimo"/>
              </a:defRPr>
            </a:pPr>
            <a:r>
              <a:rPr sz="1598" b="0">
                <a:solidFill>
                  <a:srgbClr val="68768D"/>
                </a:solidFill>
                <a:latin typeface="Arimo"/>
                <a:ea typeface="Arimo"/>
                <a:cs typeface="Arimo"/>
              </a:rPr>
              <a:t>2026 제22회 한국대학생 산업공학 프로젝트경진대회</a:t>
            </a:r>
          </a:p>
        </p:txBody>
      </p:sp>
      <p:sp>
        <p:nvSpPr>
          <p:cNvPr id="218" name="main-takeaway">
            <a:extLst xmlns:a="http://schemas.openxmlformats.org/drawingml/2006/main">
              <a:ext uri="{FF2B5EF4-FFF2-40B4-BE49-F238E27FC236}">
                <a16:creationId xmlns:a16="http://schemas.microsoft.com/office/drawing/2014/main" id="{2EDA6344-FC4C-4F15-A67A-C32E1CBB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84" y="8698611"/>
            <a:ext cx="16622268" cy="564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1" b="1">
                <a:solidFill>
                  <a:srgbClr val="3659DE"/>
                </a:solidFill>
                <a:latin typeface="Arimo Bold"/>
                <a:ea typeface="Arimo Bold"/>
                <a:cs typeface="Arimo Bold"/>
              </a:defRPr>
            </a:defPPr>
            <a:lvl1pPr algn="l">
              <a:buNone/>
              <a:defRPr sz="2701" b="1">
                <a:solidFill>
                  <a:srgbClr val="3659DE"/>
                </a:solidFill>
                <a:latin typeface="Arimo Bold"/>
                <a:ea typeface="Arimo Bold"/>
                <a:cs typeface="Arimo Bold"/>
              </a:defRPr>
            </a:lvl1pPr>
            <a:lvl2pPr algn="l">
              <a:buNone/>
              <a:defRPr sz="2701" b="1">
                <a:solidFill>
                  <a:srgbClr val="3659DE"/>
                </a:solidFill>
                <a:latin typeface="Arimo Bold"/>
                <a:ea typeface="Arimo Bold"/>
                <a:cs typeface="Arimo Bold"/>
              </a:defRPr>
            </a:lvl2pPr>
            <a:lvl3pPr algn="l">
              <a:buNone/>
              <a:defRPr sz="2701" b="1">
                <a:solidFill>
                  <a:srgbClr val="3659DE"/>
                </a:solidFill>
                <a:latin typeface="Arimo Bold"/>
                <a:ea typeface="Arimo Bold"/>
                <a:cs typeface="Arimo Bold"/>
              </a:defRPr>
            </a:lvl3pPr>
            <a:lvl4pPr algn="l">
              <a:buNone/>
              <a:defRPr sz="2701" b="1">
                <a:solidFill>
                  <a:srgbClr val="3659DE"/>
                </a:solidFill>
                <a:latin typeface="Arimo Bold"/>
                <a:ea typeface="Arimo Bold"/>
                <a:cs typeface="Arimo Bold"/>
              </a:defRPr>
            </a:lvl4pPr>
            <a:lvl5pPr algn="l">
              <a:buNone/>
              <a:defRPr sz="2701" b="1">
                <a:solidFill>
                  <a:srgbClr val="3659DE"/>
                </a:solidFill>
                <a:latin typeface="Arimo Bold"/>
                <a:ea typeface="Arimo Bold"/>
                <a:cs typeface="Arimo Bold"/>
              </a:defRPr>
            </a:lvl5pPr>
            <a:lvl6pPr algn="l">
              <a:buNone/>
              <a:defRPr sz="2701" b="1">
                <a:solidFill>
                  <a:srgbClr val="3659DE"/>
                </a:solidFill>
                <a:latin typeface="Arimo Bold"/>
                <a:ea typeface="Arimo Bold"/>
                <a:cs typeface="Arimo Bold"/>
              </a:defRPr>
            </a:lvl6pPr>
            <a:lvl7pPr algn="l">
              <a:buNone/>
              <a:defRPr sz="2701" b="1">
                <a:solidFill>
                  <a:srgbClr val="3659DE"/>
                </a:solidFill>
                <a:latin typeface="Arimo Bold"/>
                <a:ea typeface="Arimo Bold"/>
                <a:cs typeface="Arimo Bold"/>
              </a:defRPr>
            </a:lvl7pPr>
            <a:lvl8pPr algn="l">
              <a:buNone/>
              <a:defRPr sz="2701" b="1">
                <a:solidFill>
                  <a:srgbClr val="3659DE"/>
                </a:solidFill>
                <a:latin typeface="Arimo Bold"/>
                <a:ea typeface="Arimo Bold"/>
                <a:cs typeface="Arimo Bold"/>
              </a:defRPr>
            </a:lvl8pPr>
            <a:lvl9pPr algn="l">
              <a:buNone/>
              <a:defRPr sz="2701" b="1">
                <a:solidFill>
                  <a:srgbClr val="3659DE"/>
                </a:solidFill>
                <a:latin typeface="Arimo Bold"/>
                <a:ea typeface="Arimo Bold"/>
                <a:cs typeface="Arimo Bold"/>
              </a:defRPr>
            </a:lvl9pPr>
          </a:lstStyle>
          <a:p xmlns:a="http://schemas.openxmlformats.org/drawingml/2006/main">
            <a:pPr algn="l">
              <a:buNone/>
              <a:defRPr sz="2701" b="1">
                <a:solidFill>
                  <a:srgbClr val="3659DE"/>
                </a:solidFill>
                <a:latin typeface="Arimo Bold"/>
                <a:ea typeface="Arimo Bold"/>
                <a:cs typeface="Arimo Bold"/>
              </a:defRPr>
            </a:pPr>
            <a:r>
              <a:rPr sz="2701" b="1">
                <a:solidFill>
                  <a:srgbClr val="3659DE"/>
                </a:solidFill>
                <a:latin typeface="Arimo Bold"/>
                <a:ea typeface="Arimo Bold"/>
                <a:cs typeface="Arimo Bold"/>
              </a:rPr>
              <a:t>교사 판단을 모방해 학습하고, 허용 행동 중 신경망 점수가 가장 높은 행동을 선택합니다.</a:t>
            </a:r>
          </a:p>
        </p:txBody>
      </p:sp>
      <p:sp>
        <p:nvSpPr>
          <p:cNvPr id="219" name="secondary-takeaway">
            <a:extLst xmlns:a="http://schemas.openxmlformats.org/drawingml/2006/main">
              <a:ext uri="{FF2B5EF4-FFF2-40B4-BE49-F238E27FC236}">
                <a16:creationId xmlns:a16="http://schemas.microsoft.com/office/drawing/2014/main" id="{4CECC5CB-0451-4577-AE23-79F1304D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84" y="9218009"/>
            <a:ext cx="16622268" cy="347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1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defPPr>
            <a:lvl1pPr algn="l">
              <a:buNone/>
              <a:defRPr sz="1651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1pPr>
            <a:lvl2pPr algn="l">
              <a:buNone/>
              <a:defRPr sz="1651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2pPr>
            <a:lvl3pPr algn="l">
              <a:buNone/>
              <a:defRPr sz="1651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3pPr>
            <a:lvl4pPr algn="l">
              <a:buNone/>
              <a:defRPr sz="1651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4pPr>
            <a:lvl5pPr algn="l">
              <a:buNone/>
              <a:defRPr sz="1651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5pPr>
            <a:lvl6pPr algn="l">
              <a:buNone/>
              <a:defRPr sz="1651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6pPr>
            <a:lvl7pPr algn="l">
              <a:buNone/>
              <a:defRPr sz="1651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7pPr>
            <a:lvl8pPr algn="l">
              <a:buNone/>
              <a:defRPr sz="1651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8pPr>
            <a:lvl9pPr algn="l">
              <a:buNone/>
              <a:defRPr sz="1651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l">
              <a:buNone/>
              <a:defRPr sz="1651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pPr>
            <a:r>
              <a:rPr sz="1651" b="0">
                <a:solidFill>
                  <a:srgbClr val="202124"/>
                </a:solidFill>
                <a:latin typeface="Arimo"/>
                <a:ea typeface="Arimo"/>
                <a:cs typeface="Arimo"/>
              </a:rPr>
              <a:t>새 요청 도착·완료·대기 종료 시 후보와 예측을 갱신하고, 학습한 가중치는 고정해 사용합니다.</a:t>
            </a:r>
          </a:p>
        </p:txBody>
      </p:sp>
      <p:sp>
        <p:nvSpPr>
          <p:cNvPr id="220" name="footer">
            <a:extLst xmlns:a="http://schemas.openxmlformats.org/drawingml/2006/main">
              <a:ext uri="{FF2B5EF4-FFF2-40B4-BE49-F238E27FC236}">
                <a16:creationId xmlns:a16="http://schemas.microsoft.com/office/drawing/2014/main" id="{83521DB5-B96A-4B73-9A35-9104FBE0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48" y="9763125"/>
            <a:ext cx="16570357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737373"/>
                </a:solidFill>
                <a:latin typeface="Arimo"/>
                <a:ea typeface="Arimo"/>
                <a:cs typeface="Arimo"/>
              </a:defRPr>
            </a:defPPr>
            <a:lvl1pPr algn="l">
              <a:buNone/>
              <a:defRPr sz="1350" b="0">
                <a:solidFill>
                  <a:srgbClr val="737373"/>
                </a:solidFill>
                <a:latin typeface="Arimo"/>
                <a:ea typeface="Arimo"/>
                <a:cs typeface="Arimo"/>
              </a:defRPr>
            </a:lvl1pPr>
            <a:lvl2pPr algn="l">
              <a:buNone/>
              <a:defRPr sz="1350" b="0">
                <a:solidFill>
                  <a:srgbClr val="737373"/>
                </a:solidFill>
                <a:latin typeface="Arimo"/>
                <a:ea typeface="Arimo"/>
                <a:cs typeface="Arimo"/>
              </a:defRPr>
            </a:lvl2pPr>
            <a:lvl3pPr algn="l">
              <a:buNone/>
              <a:defRPr sz="1350" b="0">
                <a:solidFill>
                  <a:srgbClr val="737373"/>
                </a:solidFill>
                <a:latin typeface="Arimo"/>
                <a:ea typeface="Arimo"/>
                <a:cs typeface="Arimo"/>
              </a:defRPr>
            </a:lvl3pPr>
            <a:lvl4pPr algn="l">
              <a:buNone/>
              <a:defRPr sz="1350" b="0">
                <a:solidFill>
                  <a:srgbClr val="737373"/>
                </a:solidFill>
                <a:latin typeface="Arimo"/>
                <a:ea typeface="Arimo"/>
                <a:cs typeface="Arimo"/>
              </a:defRPr>
            </a:lvl4pPr>
            <a:lvl5pPr algn="l">
              <a:buNone/>
              <a:defRPr sz="1350" b="0">
                <a:solidFill>
                  <a:srgbClr val="737373"/>
                </a:solidFill>
                <a:latin typeface="Arimo"/>
                <a:ea typeface="Arimo"/>
                <a:cs typeface="Arimo"/>
              </a:defRPr>
            </a:lvl5pPr>
            <a:lvl6pPr algn="l">
              <a:buNone/>
              <a:defRPr sz="1350" b="0">
                <a:solidFill>
                  <a:srgbClr val="737373"/>
                </a:solidFill>
                <a:latin typeface="Arimo"/>
                <a:ea typeface="Arimo"/>
                <a:cs typeface="Arimo"/>
              </a:defRPr>
            </a:lvl6pPr>
            <a:lvl7pPr algn="l">
              <a:buNone/>
              <a:defRPr sz="1350" b="0">
                <a:solidFill>
                  <a:srgbClr val="737373"/>
                </a:solidFill>
                <a:latin typeface="Arimo"/>
                <a:ea typeface="Arimo"/>
                <a:cs typeface="Arimo"/>
              </a:defRPr>
            </a:lvl7pPr>
            <a:lvl8pPr algn="l">
              <a:buNone/>
              <a:defRPr sz="1350" b="0">
                <a:solidFill>
                  <a:srgbClr val="737373"/>
                </a:solidFill>
                <a:latin typeface="Arimo"/>
                <a:ea typeface="Arimo"/>
                <a:cs typeface="Arimo"/>
              </a:defRPr>
            </a:lvl8pPr>
            <a:lvl9pPr algn="l">
              <a:buNone/>
              <a:defRPr sz="1350" b="0">
                <a:solidFill>
                  <a:srgbClr val="737373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737373"/>
                </a:solidFill>
                <a:latin typeface="Arimo"/>
                <a:ea typeface="Arimo"/>
                <a:cs typeface="Arimo"/>
              </a:defRPr>
            </a:pPr>
            <a:r>
              <a:rPr sz="1350" b="0">
                <a:solidFill>
                  <a:srgbClr val="737373"/>
                </a:solidFill>
                <a:latin typeface="Arimo"/>
                <a:ea typeface="Arimo"/>
                <a:cs typeface="Arimo"/>
              </a:rPr>
              <a:t>기한 보호는 예측에 따른 후보 선별이며, 모든 입력의 기한 준수를 보장하는 제약은 아닙니다.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737373"/>
                </a:solidFill>
                <a:latin typeface="Arimo"/>
                <a:ea typeface="Arimo"/>
                <a:cs typeface="Arimo"/>
              </a:defRPr>
            </a:pPr>
            <a:r>
              <a:rPr sz="1350" b="0">
                <a:solidFill>
                  <a:srgbClr val="737373"/>
                </a:solidFill>
                <a:latin typeface="Arimo"/>
                <a:ea typeface="Arimo"/>
                <a:cs typeface="Arimo"/>
              </a:rPr>
              <a:t>A24·S26의 교사·입력 특징·보완 규칙은 각각 다르며, 성능은 결합 정책 전체로 평가합니다.</a:t>
            </a:r>
          </a:p>
        </p:txBody>
      </p:sp>
      <p:sp>
        <p:nvSpPr>
          <p:cNvPr id="22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1FFAEF4-7E71-4193-880C-80A7A7A2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1867" y="9825038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800" b="1">
                <a:solidFill>
                  <a:srgbClr val="909090"/>
                </a:solidFill>
                <a:latin typeface="Arimo Bold"/>
                <a:ea typeface="Arimo Bold"/>
                <a:cs typeface="Arimo Bold"/>
              </a:defRPr>
            </a:defPPr>
            <a:lvl1pPr algn="r">
              <a:buNone/>
              <a:defRPr sz="1800" b="1">
                <a:solidFill>
                  <a:srgbClr val="909090"/>
                </a:solidFill>
                <a:latin typeface="Arimo Bold"/>
                <a:ea typeface="Arimo Bold"/>
                <a:cs typeface="Arimo Bold"/>
              </a:defRPr>
            </a:lvl1pPr>
            <a:lvl2pPr algn="r">
              <a:buNone/>
              <a:defRPr sz="1800" b="1">
                <a:solidFill>
                  <a:srgbClr val="909090"/>
                </a:solidFill>
                <a:latin typeface="Arimo Bold"/>
                <a:ea typeface="Arimo Bold"/>
                <a:cs typeface="Arimo Bold"/>
              </a:defRPr>
            </a:lvl2pPr>
            <a:lvl3pPr algn="r">
              <a:buNone/>
              <a:defRPr sz="1800" b="1">
                <a:solidFill>
                  <a:srgbClr val="909090"/>
                </a:solidFill>
                <a:latin typeface="Arimo Bold"/>
                <a:ea typeface="Arimo Bold"/>
                <a:cs typeface="Arimo Bold"/>
              </a:defRPr>
            </a:lvl3pPr>
            <a:lvl4pPr algn="r">
              <a:buNone/>
              <a:defRPr sz="1800" b="1">
                <a:solidFill>
                  <a:srgbClr val="909090"/>
                </a:solidFill>
                <a:latin typeface="Arimo Bold"/>
                <a:ea typeface="Arimo Bold"/>
                <a:cs typeface="Arimo Bold"/>
              </a:defRPr>
            </a:lvl4pPr>
            <a:lvl5pPr algn="r">
              <a:buNone/>
              <a:defRPr sz="1800" b="1">
                <a:solidFill>
                  <a:srgbClr val="909090"/>
                </a:solidFill>
                <a:latin typeface="Arimo Bold"/>
                <a:ea typeface="Arimo Bold"/>
                <a:cs typeface="Arimo Bold"/>
              </a:defRPr>
            </a:lvl5pPr>
            <a:lvl6pPr algn="r">
              <a:buNone/>
              <a:defRPr sz="1800" b="1">
                <a:solidFill>
                  <a:srgbClr val="909090"/>
                </a:solidFill>
                <a:latin typeface="Arimo Bold"/>
                <a:ea typeface="Arimo Bold"/>
                <a:cs typeface="Arimo Bold"/>
              </a:defRPr>
            </a:lvl6pPr>
            <a:lvl7pPr algn="r">
              <a:buNone/>
              <a:defRPr sz="1800" b="1">
                <a:solidFill>
                  <a:srgbClr val="909090"/>
                </a:solidFill>
                <a:latin typeface="Arimo Bold"/>
                <a:ea typeface="Arimo Bold"/>
                <a:cs typeface="Arimo Bold"/>
              </a:defRPr>
            </a:lvl7pPr>
            <a:lvl8pPr algn="r">
              <a:buNone/>
              <a:defRPr sz="1800" b="1">
                <a:solidFill>
                  <a:srgbClr val="909090"/>
                </a:solidFill>
                <a:latin typeface="Arimo Bold"/>
                <a:ea typeface="Arimo Bold"/>
                <a:cs typeface="Arimo Bold"/>
              </a:defRPr>
            </a:lvl8pPr>
            <a:lvl9pPr algn="r">
              <a:buNone/>
              <a:defRPr sz="1800" b="1">
                <a:solidFill>
                  <a:srgbClr val="909090"/>
                </a:solidFill>
                <a:latin typeface="Arimo Bold"/>
                <a:ea typeface="Arimo Bold"/>
                <a:cs typeface="Arimo Bold"/>
              </a:defRPr>
            </a:lvl9pPr>
          </a:lstStyle>
          <a:p xmlns:a="http://schemas.openxmlformats.org/drawingml/2006/main">
            <a:pPr algn="r">
              <a:buNone/>
              <a:defRPr sz="1800" b="1">
                <a:solidFill>
                  <a:srgbClr val="909090"/>
                </a:solidFill>
                <a:latin typeface="Arimo Bold"/>
                <a:ea typeface="Arimo Bold"/>
                <a:cs typeface="Arimo Bold"/>
              </a:defRPr>
            </a:pPr>
            <a:r>
              <a:rPr sz="1800" b="1">
                <a:solidFill>
                  <a:srgbClr val="909090"/>
                </a:solidFill>
                <a:latin typeface="Arimo Bold"/>
                <a:ea typeface="Arimo Bold"/>
                <a:cs typeface="Arimo Bold"/>
              </a:rPr>
              <a:t>10</a:t>
            </a:r>
          </a:p>
        </p:txBody>
      </p:sp>
      <p:sp>
        <p:nvSpPr>
          <p:cNvPr id="222" name="equation-panel-heading">
            <a:extLst xmlns:a="http://schemas.openxmlformats.org/drawingml/2006/main">
              <a:ext uri="{FF2B5EF4-FFF2-40B4-BE49-F238E27FC236}">
                <a16:creationId xmlns:a16="http://schemas.microsoft.com/office/drawing/2014/main" id="{5FDE9006-4356-4352-B0E8-8E5B130A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0141" y="2939891"/>
            <a:ext cx="5298377" cy="430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1" b="1">
                <a:solidFill>
                  <a:srgbClr val="3659DE"/>
                </a:solidFill>
                <a:latin typeface="Arimo Bold"/>
                <a:ea typeface="Arimo Bold"/>
                <a:cs typeface="Arimo Bold"/>
              </a:defRPr>
            </a:defPPr>
            <a:lvl1pPr algn="l">
              <a:defRPr sz="2101" b="1">
                <a:solidFill>
                  <a:srgbClr val="3659DE"/>
                </a:solidFill>
                <a:latin typeface="Arimo Bold"/>
                <a:ea typeface="Arimo Bold"/>
                <a:cs typeface="Arimo Bold"/>
              </a:defRPr>
            </a:lvl1pPr>
            <a:lvl2pPr algn="l">
              <a:defRPr sz="2101" b="1">
                <a:solidFill>
                  <a:srgbClr val="3659DE"/>
                </a:solidFill>
                <a:latin typeface="Arimo Bold"/>
                <a:ea typeface="Arimo Bold"/>
                <a:cs typeface="Arimo Bold"/>
              </a:defRPr>
            </a:lvl2pPr>
            <a:lvl3pPr algn="l">
              <a:defRPr sz="2101" b="1">
                <a:solidFill>
                  <a:srgbClr val="3659DE"/>
                </a:solidFill>
                <a:latin typeface="Arimo Bold"/>
                <a:ea typeface="Arimo Bold"/>
                <a:cs typeface="Arimo Bold"/>
              </a:defRPr>
            </a:lvl3pPr>
            <a:lvl4pPr algn="l">
              <a:defRPr sz="2101" b="1">
                <a:solidFill>
                  <a:srgbClr val="3659DE"/>
                </a:solidFill>
                <a:latin typeface="Arimo Bold"/>
                <a:ea typeface="Arimo Bold"/>
                <a:cs typeface="Arimo Bold"/>
              </a:defRPr>
            </a:lvl4pPr>
            <a:lvl5pPr algn="l">
              <a:defRPr sz="2101" b="1">
                <a:solidFill>
                  <a:srgbClr val="3659DE"/>
                </a:solidFill>
                <a:latin typeface="Arimo Bold"/>
                <a:ea typeface="Arimo Bold"/>
                <a:cs typeface="Arimo Bold"/>
              </a:defRPr>
            </a:lvl5pPr>
            <a:lvl6pPr algn="l">
              <a:defRPr sz="2101" b="1">
                <a:solidFill>
                  <a:srgbClr val="3659DE"/>
                </a:solidFill>
                <a:latin typeface="Arimo Bold"/>
                <a:ea typeface="Arimo Bold"/>
                <a:cs typeface="Arimo Bold"/>
              </a:defRPr>
            </a:lvl6pPr>
            <a:lvl7pPr algn="l">
              <a:defRPr sz="2101" b="1">
                <a:solidFill>
                  <a:srgbClr val="3659DE"/>
                </a:solidFill>
                <a:latin typeface="Arimo Bold"/>
                <a:ea typeface="Arimo Bold"/>
                <a:cs typeface="Arimo Bold"/>
              </a:defRPr>
            </a:lvl7pPr>
            <a:lvl8pPr algn="l">
              <a:defRPr sz="2101" b="1">
                <a:solidFill>
                  <a:srgbClr val="3659DE"/>
                </a:solidFill>
                <a:latin typeface="Arimo Bold"/>
                <a:ea typeface="Arimo Bold"/>
                <a:cs typeface="Arimo Bold"/>
              </a:defRPr>
            </a:lvl8pPr>
            <a:lvl9pPr algn="l">
              <a:defRPr sz="2101" b="1">
                <a:solidFill>
                  <a:srgbClr val="3659DE"/>
                </a:solidFill>
                <a:latin typeface="Arimo Bold"/>
                <a:ea typeface="Arimo Bold"/>
                <a:cs typeface="Arimo Bold"/>
              </a:defRPr>
            </a:lvl9pPr>
          </a:lstStyle>
          <a:p xmlns:a="http://schemas.openxmlformats.org/drawingml/2006/main">
            <a:pPr algn="l">
              <a:defRPr sz="2101" b="1">
                <a:solidFill>
                  <a:srgbClr val="3659DE"/>
                </a:solidFill>
                <a:latin typeface="Arimo Bold"/>
                <a:ea typeface="Arimo Bold"/>
                <a:cs typeface="Arimo Bold"/>
              </a:defRPr>
            </a:pPr>
            <a:r>
              <a:rPr sz="2101" b="1">
                <a:solidFill>
                  <a:srgbClr val="3659DE"/>
                </a:solidFill>
                <a:latin typeface="Arimo Bold"/>
                <a:ea typeface="Arimo Bold"/>
                <a:cs typeface="Arimo Bold"/>
              </a:rPr>
              <a:t>③ 실행 제약과 최종 선택</a:t>
            </a:r>
          </a:p>
        </p:txBody>
      </p:sp>
      <p:sp>
        <p:nvSpPr>
          <p:cNvPr id="223" name="equation-panel-subtitle">
            <a:extLst xmlns:a="http://schemas.openxmlformats.org/drawingml/2006/main">
              <a:ext uri="{FF2B5EF4-FFF2-40B4-BE49-F238E27FC236}">
                <a16:creationId xmlns:a16="http://schemas.microsoft.com/office/drawing/2014/main" id="{43775D13-84E9-4C13-A500-75B4B3E8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0141" y="3409950"/>
            <a:ext cx="5298377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13" b="0">
                <a:solidFill>
                  <a:srgbClr val="737373"/>
                </a:solidFill>
                <a:latin typeface="Arimo"/>
                <a:ea typeface="Arimo"/>
                <a:cs typeface="Arimo"/>
              </a:defRPr>
            </a:defPPr>
            <a:lvl1pPr algn="l">
              <a:defRPr sz="1613" b="0">
                <a:solidFill>
                  <a:srgbClr val="737373"/>
                </a:solidFill>
                <a:latin typeface="Arimo"/>
                <a:ea typeface="Arimo"/>
                <a:cs typeface="Arimo"/>
              </a:defRPr>
            </a:lvl1pPr>
            <a:lvl2pPr algn="l">
              <a:defRPr sz="1613" b="0">
                <a:solidFill>
                  <a:srgbClr val="737373"/>
                </a:solidFill>
                <a:latin typeface="Arimo"/>
                <a:ea typeface="Arimo"/>
                <a:cs typeface="Arimo"/>
              </a:defRPr>
            </a:lvl2pPr>
            <a:lvl3pPr algn="l">
              <a:defRPr sz="1613" b="0">
                <a:solidFill>
                  <a:srgbClr val="737373"/>
                </a:solidFill>
                <a:latin typeface="Arimo"/>
                <a:ea typeface="Arimo"/>
                <a:cs typeface="Arimo"/>
              </a:defRPr>
            </a:lvl3pPr>
            <a:lvl4pPr algn="l">
              <a:defRPr sz="1613" b="0">
                <a:solidFill>
                  <a:srgbClr val="737373"/>
                </a:solidFill>
                <a:latin typeface="Arimo"/>
                <a:ea typeface="Arimo"/>
                <a:cs typeface="Arimo"/>
              </a:defRPr>
            </a:lvl4pPr>
            <a:lvl5pPr algn="l">
              <a:defRPr sz="1613" b="0">
                <a:solidFill>
                  <a:srgbClr val="737373"/>
                </a:solidFill>
                <a:latin typeface="Arimo"/>
                <a:ea typeface="Arimo"/>
                <a:cs typeface="Arimo"/>
              </a:defRPr>
            </a:lvl5pPr>
            <a:lvl6pPr algn="l">
              <a:defRPr sz="1613" b="0">
                <a:solidFill>
                  <a:srgbClr val="737373"/>
                </a:solidFill>
                <a:latin typeface="Arimo"/>
                <a:ea typeface="Arimo"/>
                <a:cs typeface="Arimo"/>
              </a:defRPr>
            </a:lvl6pPr>
            <a:lvl7pPr algn="l">
              <a:defRPr sz="1613" b="0">
                <a:solidFill>
                  <a:srgbClr val="737373"/>
                </a:solidFill>
                <a:latin typeface="Arimo"/>
                <a:ea typeface="Arimo"/>
                <a:cs typeface="Arimo"/>
              </a:defRPr>
            </a:lvl7pPr>
            <a:lvl8pPr algn="l">
              <a:defRPr sz="1613" b="0">
                <a:solidFill>
                  <a:srgbClr val="737373"/>
                </a:solidFill>
                <a:latin typeface="Arimo"/>
                <a:ea typeface="Arimo"/>
                <a:cs typeface="Arimo"/>
              </a:defRPr>
            </a:lvl8pPr>
            <a:lvl9pPr algn="l">
              <a:defRPr sz="1613" b="0">
                <a:solidFill>
                  <a:srgbClr val="737373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l">
              <a:defRPr sz="1613" b="0">
                <a:solidFill>
                  <a:srgbClr val="737373"/>
                </a:solidFill>
                <a:latin typeface="Arimo"/>
                <a:ea typeface="Arimo"/>
                <a:cs typeface="Arimo"/>
              </a:defRPr>
            </a:pPr>
            <a:r>
              <a:rPr sz="1613" b="0">
                <a:solidFill>
                  <a:srgbClr val="737373"/>
                </a:solidFill>
                <a:latin typeface="Arimo"/>
                <a:ea typeface="Arimo"/>
                <a:cs typeface="Arimo"/>
              </a:rPr>
              <a:t>ATC·롤링 후보에 제약을 반영한 뒤 선택</a:t>
            </a:r>
          </a:p>
        </p:txBody>
      </p:sp>
      <p:sp>
        <p:nvSpPr>
          <p:cNvPr id="224" name="eligible-actions">
            <a:extLst xmlns:a="http://schemas.openxmlformats.org/drawingml/2006/main">
              <a:ext uri="{FF2B5EF4-FFF2-40B4-BE49-F238E27FC236}">
                <a16:creationId xmlns:a16="http://schemas.microsoft.com/office/drawing/2014/main" id="{63647C0A-A142-4847-B5E1-A5E71824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0141" y="3895725"/>
            <a:ext cx="5298377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5" name="eligible-title">
            <a:extLst xmlns:a="http://schemas.openxmlformats.org/drawingml/2006/main">
              <a:ext uri="{FF2B5EF4-FFF2-40B4-BE49-F238E27FC236}">
                <a16:creationId xmlns:a16="http://schemas.microsoft.com/office/drawing/2014/main" id="{377C732D-064A-4513-B4D5-141A4CF3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3971925"/>
            <a:ext cx="4914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02124"/>
                </a:solidFill>
                <a:latin typeface="Arimo Bold"/>
                <a:ea typeface="Arimo Bold"/>
                <a:cs typeface="Arimo Bold"/>
              </a:defRPr>
            </a:defPPr>
            <a:lvl1pPr algn="l">
              <a:defRPr sz="1950" b="1">
                <a:solidFill>
                  <a:srgbClr val="202124"/>
                </a:solidFill>
                <a:latin typeface="Arimo Bold"/>
                <a:ea typeface="Arimo Bold"/>
                <a:cs typeface="Arimo Bold"/>
              </a:defRPr>
            </a:lvl1pPr>
            <a:lvl2pPr algn="l">
              <a:defRPr sz="1950" b="1">
                <a:solidFill>
                  <a:srgbClr val="202124"/>
                </a:solidFill>
                <a:latin typeface="Arimo Bold"/>
                <a:ea typeface="Arimo Bold"/>
                <a:cs typeface="Arimo Bold"/>
              </a:defRPr>
            </a:lvl2pPr>
            <a:lvl3pPr algn="l">
              <a:defRPr sz="1950" b="1">
                <a:solidFill>
                  <a:srgbClr val="202124"/>
                </a:solidFill>
                <a:latin typeface="Arimo Bold"/>
                <a:ea typeface="Arimo Bold"/>
                <a:cs typeface="Arimo Bold"/>
              </a:defRPr>
            </a:lvl3pPr>
            <a:lvl4pPr algn="l">
              <a:defRPr sz="1950" b="1">
                <a:solidFill>
                  <a:srgbClr val="202124"/>
                </a:solidFill>
                <a:latin typeface="Arimo Bold"/>
                <a:ea typeface="Arimo Bold"/>
                <a:cs typeface="Arimo Bold"/>
              </a:defRPr>
            </a:lvl4pPr>
            <a:lvl5pPr algn="l">
              <a:defRPr sz="1950" b="1">
                <a:solidFill>
                  <a:srgbClr val="202124"/>
                </a:solidFill>
                <a:latin typeface="Arimo Bold"/>
                <a:ea typeface="Arimo Bold"/>
                <a:cs typeface="Arimo Bold"/>
              </a:defRPr>
            </a:lvl5pPr>
            <a:lvl6pPr algn="l">
              <a:defRPr sz="1950" b="1">
                <a:solidFill>
                  <a:srgbClr val="202124"/>
                </a:solidFill>
                <a:latin typeface="Arimo Bold"/>
                <a:ea typeface="Arimo Bold"/>
                <a:cs typeface="Arimo Bold"/>
              </a:defRPr>
            </a:lvl6pPr>
            <a:lvl7pPr algn="l">
              <a:defRPr sz="1950" b="1">
                <a:solidFill>
                  <a:srgbClr val="202124"/>
                </a:solidFill>
                <a:latin typeface="Arimo Bold"/>
                <a:ea typeface="Arimo Bold"/>
                <a:cs typeface="Arimo Bold"/>
              </a:defRPr>
            </a:lvl7pPr>
            <a:lvl8pPr algn="l">
              <a:defRPr sz="1950" b="1">
                <a:solidFill>
                  <a:srgbClr val="202124"/>
                </a:solidFill>
                <a:latin typeface="Arimo Bold"/>
                <a:ea typeface="Arimo Bold"/>
                <a:cs typeface="Arimo Bold"/>
              </a:defRPr>
            </a:lvl8pPr>
            <a:lvl9pPr algn="l">
              <a:defRPr sz="1950" b="1">
                <a:solidFill>
                  <a:srgbClr val="202124"/>
                </a:solidFill>
                <a:latin typeface="Arimo Bold"/>
                <a:ea typeface="Arimo Bold"/>
                <a:cs typeface="Arimo Bold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02124"/>
                </a:solidFill>
                <a:latin typeface="Arimo Bold"/>
                <a:ea typeface="Arimo Bold"/>
                <a:cs typeface="Arimo Bold"/>
              </a:defRPr>
            </a:pPr>
            <a:r>
              <a:rPr sz="1950" b="1">
                <a:solidFill>
                  <a:srgbClr val="202124"/>
                </a:solidFill>
                <a:latin typeface="Arimo Bold"/>
                <a:ea typeface="Arimo Bold"/>
                <a:cs typeface="Arimo Bold"/>
              </a:rPr>
              <a:t>허용 행동 집합</a:t>
            </a:r>
          </a:p>
        </p:txBody>
      </p:sp>
      <p:sp>
        <p:nvSpPr>
          <p:cNvPr id="226" name="eligible-description">
            <a:extLst xmlns:a="http://schemas.openxmlformats.org/drawingml/2006/main">
              <a:ext uri="{FF2B5EF4-FFF2-40B4-BE49-F238E27FC236}">
                <a16:creationId xmlns:a16="http://schemas.microsoft.com/office/drawing/2014/main" id="{72EEB47C-88FF-47BE-A354-46E3C7D0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4343400"/>
            <a:ext cx="4914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88" b="0">
                <a:solidFill>
                  <a:srgbClr val="737373"/>
                </a:solidFill>
                <a:latin typeface="Arimo"/>
                <a:ea typeface="Arimo"/>
                <a:cs typeface="Arimo"/>
              </a:defRPr>
            </a:defPPr>
            <a:lvl1pPr algn="l">
              <a:defRPr sz="1688" b="0">
                <a:solidFill>
                  <a:srgbClr val="737373"/>
                </a:solidFill>
                <a:latin typeface="Arimo"/>
                <a:ea typeface="Arimo"/>
                <a:cs typeface="Arimo"/>
              </a:defRPr>
            </a:lvl1pPr>
            <a:lvl2pPr algn="l">
              <a:defRPr sz="1688" b="0">
                <a:solidFill>
                  <a:srgbClr val="737373"/>
                </a:solidFill>
                <a:latin typeface="Arimo"/>
                <a:ea typeface="Arimo"/>
                <a:cs typeface="Arimo"/>
              </a:defRPr>
            </a:lvl2pPr>
            <a:lvl3pPr algn="l">
              <a:defRPr sz="1688" b="0">
                <a:solidFill>
                  <a:srgbClr val="737373"/>
                </a:solidFill>
                <a:latin typeface="Arimo"/>
                <a:ea typeface="Arimo"/>
                <a:cs typeface="Arimo"/>
              </a:defRPr>
            </a:lvl3pPr>
            <a:lvl4pPr algn="l">
              <a:defRPr sz="1688" b="0">
                <a:solidFill>
                  <a:srgbClr val="737373"/>
                </a:solidFill>
                <a:latin typeface="Arimo"/>
                <a:ea typeface="Arimo"/>
                <a:cs typeface="Arimo"/>
              </a:defRPr>
            </a:lvl4pPr>
            <a:lvl5pPr algn="l">
              <a:defRPr sz="1688" b="0">
                <a:solidFill>
                  <a:srgbClr val="737373"/>
                </a:solidFill>
                <a:latin typeface="Arimo"/>
                <a:ea typeface="Arimo"/>
                <a:cs typeface="Arimo"/>
              </a:defRPr>
            </a:lvl5pPr>
            <a:lvl6pPr algn="l">
              <a:defRPr sz="1688" b="0">
                <a:solidFill>
                  <a:srgbClr val="737373"/>
                </a:solidFill>
                <a:latin typeface="Arimo"/>
                <a:ea typeface="Arimo"/>
                <a:cs typeface="Arimo"/>
              </a:defRPr>
            </a:lvl6pPr>
            <a:lvl7pPr algn="l">
              <a:defRPr sz="1688" b="0">
                <a:solidFill>
                  <a:srgbClr val="737373"/>
                </a:solidFill>
                <a:latin typeface="Arimo"/>
                <a:ea typeface="Arimo"/>
                <a:cs typeface="Arimo"/>
              </a:defRPr>
            </a:lvl7pPr>
            <a:lvl8pPr algn="l">
              <a:defRPr sz="1688" b="0">
                <a:solidFill>
                  <a:srgbClr val="737373"/>
                </a:solidFill>
                <a:latin typeface="Arimo"/>
                <a:ea typeface="Arimo"/>
                <a:cs typeface="Arimo"/>
              </a:defRPr>
            </a:lvl8pPr>
            <a:lvl9pPr algn="l">
              <a:defRPr sz="1688" b="0">
                <a:solidFill>
                  <a:srgbClr val="737373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l">
              <a:defRPr sz="1688" b="0">
                <a:solidFill>
                  <a:srgbClr val="737373"/>
                </a:solidFill>
                <a:latin typeface="Arimo"/>
                <a:ea typeface="Arimo"/>
                <a:cs typeface="Arimo"/>
              </a:defRPr>
            </a:pPr>
            <a:r>
              <a:rPr sz="1688" b="0">
                <a:solidFill>
                  <a:srgbClr val="737373"/>
                </a:solidFill>
                <a:latin typeface="Arimo"/>
                <a:ea typeface="Arimo"/>
                <a:cs typeface="Arimo"/>
              </a:rPr>
              <a:t>지원 경로·자원 점유·허용 병행 조합</a:t>
            </a:r>
          </a:p>
          <a:p xmlns:a="http://schemas.openxmlformats.org/drawingml/2006/main">
            <a:pPr algn="l">
              <a:defRPr sz="1688" b="0">
                <a:solidFill>
                  <a:srgbClr val="737373"/>
                </a:solidFill>
                <a:latin typeface="Arimo"/>
                <a:ea typeface="Arimo"/>
                <a:cs typeface="Arimo"/>
              </a:defRPr>
            </a:pPr>
            <a:r>
              <a:rPr sz="1688" b="0">
                <a:solidFill>
                  <a:srgbClr val="737373"/>
                </a:solidFill>
                <a:latin typeface="Arimo"/>
                <a:ea typeface="Arimo"/>
                <a:cs typeface="Arimo"/>
              </a:rPr>
              <a:t>기한 보호·서비스 보완 규칙으로 후보 제한</a:t>
            </a:r>
          </a:p>
        </p:txBody>
      </p:sp>
      <p:sp>
        <p:nvSpPr>
          <p:cNvPr id="227" name="action-equation-frame">
            <a:extLst xmlns:a="http://schemas.openxmlformats.org/drawingml/2006/main">
              <a:ext uri="{FF2B5EF4-FFF2-40B4-BE49-F238E27FC236}">
                <a16:creationId xmlns:a16="http://schemas.microsoft.com/office/drawing/2014/main" id="{12B893F0-5F60-4EFD-BA07-F7161902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0141" y="5105400"/>
            <a:ext cx="5298377" cy="174307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8" name="action-equation-title">
            <a:extLst xmlns:a="http://schemas.openxmlformats.org/drawingml/2006/main">
              <a:ext uri="{FF2B5EF4-FFF2-40B4-BE49-F238E27FC236}">
                <a16:creationId xmlns:a16="http://schemas.microsoft.com/office/drawing/2014/main" id="{83799A98-D7D6-4BFD-941C-93BB8989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5181600"/>
            <a:ext cx="4914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3659DE"/>
                </a:solidFill>
                <a:latin typeface="Arimo Bold"/>
                <a:ea typeface="Arimo Bold"/>
                <a:cs typeface="Arimo Bold"/>
              </a:defRPr>
            </a:defPPr>
            <a:lvl1pPr algn="l">
              <a:defRPr sz="1875" b="1">
                <a:solidFill>
                  <a:srgbClr val="3659DE"/>
                </a:solidFill>
                <a:latin typeface="Arimo Bold"/>
                <a:ea typeface="Arimo Bold"/>
                <a:cs typeface="Arimo Bold"/>
              </a:defRPr>
            </a:lvl1pPr>
            <a:lvl2pPr algn="l">
              <a:defRPr sz="1875" b="1">
                <a:solidFill>
                  <a:srgbClr val="3659DE"/>
                </a:solidFill>
                <a:latin typeface="Arimo Bold"/>
                <a:ea typeface="Arimo Bold"/>
                <a:cs typeface="Arimo Bold"/>
              </a:defRPr>
            </a:lvl2pPr>
            <a:lvl3pPr algn="l">
              <a:defRPr sz="1875" b="1">
                <a:solidFill>
                  <a:srgbClr val="3659DE"/>
                </a:solidFill>
                <a:latin typeface="Arimo Bold"/>
                <a:ea typeface="Arimo Bold"/>
                <a:cs typeface="Arimo Bold"/>
              </a:defRPr>
            </a:lvl3pPr>
            <a:lvl4pPr algn="l">
              <a:defRPr sz="1875" b="1">
                <a:solidFill>
                  <a:srgbClr val="3659DE"/>
                </a:solidFill>
                <a:latin typeface="Arimo Bold"/>
                <a:ea typeface="Arimo Bold"/>
                <a:cs typeface="Arimo Bold"/>
              </a:defRPr>
            </a:lvl4pPr>
            <a:lvl5pPr algn="l">
              <a:defRPr sz="1875" b="1">
                <a:solidFill>
                  <a:srgbClr val="3659DE"/>
                </a:solidFill>
                <a:latin typeface="Arimo Bold"/>
                <a:ea typeface="Arimo Bold"/>
                <a:cs typeface="Arimo Bold"/>
              </a:defRPr>
            </a:lvl5pPr>
            <a:lvl6pPr algn="l">
              <a:defRPr sz="1875" b="1">
                <a:solidFill>
                  <a:srgbClr val="3659DE"/>
                </a:solidFill>
                <a:latin typeface="Arimo Bold"/>
                <a:ea typeface="Arimo Bold"/>
                <a:cs typeface="Arimo Bold"/>
              </a:defRPr>
            </a:lvl6pPr>
            <a:lvl7pPr algn="l">
              <a:defRPr sz="1875" b="1">
                <a:solidFill>
                  <a:srgbClr val="3659DE"/>
                </a:solidFill>
                <a:latin typeface="Arimo Bold"/>
                <a:ea typeface="Arimo Bold"/>
                <a:cs typeface="Arimo Bold"/>
              </a:defRPr>
            </a:lvl7pPr>
            <a:lvl8pPr algn="l">
              <a:defRPr sz="1875" b="1">
                <a:solidFill>
                  <a:srgbClr val="3659DE"/>
                </a:solidFill>
                <a:latin typeface="Arimo Bold"/>
                <a:ea typeface="Arimo Bold"/>
                <a:cs typeface="Arimo Bold"/>
              </a:defRPr>
            </a:lvl8pPr>
            <a:lvl9pPr algn="l">
              <a:defRPr sz="1875" b="1">
                <a:solidFill>
                  <a:srgbClr val="3659DE"/>
                </a:solidFill>
                <a:latin typeface="Arimo Bold"/>
                <a:ea typeface="Arimo Bold"/>
                <a:cs typeface="Arimo Bold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3659DE"/>
                </a:solidFill>
                <a:latin typeface="Arimo Bold"/>
                <a:ea typeface="Arimo Bold"/>
                <a:cs typeface="Arimo Bold"/>
              </a:defRPr>
            </a:pPr>
            <a:r>
              <a:rPr sz="1875" b="1">
                <a:solidFill>
                  <a:srgbClr val="3659DE"/>
                </a:solidFill>
                <a:latin typeface="Arimo Bold"/>
                <a:ea typeface="Arimo Bold"/>
                <a:cs typeface="Arimo Bold"/>
              </a:rPr>
              <a:t>실행 시 행동 선택식</a:t>
            </a:r>
          </a:p>
        </p:txBody>
      </p:sp>
      <p:sp>
        <p:nvSpPr>
          <p:cNvPr id="229" name="equation-a">
            <a:extLst xmlns:a="http://schemas.openxmlformats.org/drawingml/2006/main">
              <a:ext uri="{FF2B5EF4-FFF2-40B4-BE49-F238E27FC236}">
                <a16:creationId xmlns:a16="http://schemas.microsoft.com/office/drawing/2014/main" id="{3221E8F0-2DC5-41A2-B7FD-0B9A5CD9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5581650"/>
            <a:ext cx="26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92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defPPr>
            <a:lvl1pPr algn="l">
              <a:defRPr sz="292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1pPr>
            <a:lvl2pPr algn="l">
              <a:defRPr sz="292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2pPr>
            <a:lvl3pPr algn="l">
              <a:defRPr sz="292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3pPr>
            <a:lvl4pPr algn="l">
              <a:defRPr sz="292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4pPr>
            <a:lvl5pPr algn="l">
              <a:defRPr sz="292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5pPr>
            <a:lvl6pPr algn="l">
              <a:defRPr sz="292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6pPr>
            <a:lvl7pPr algn="l">
              <a:defRPr sz="292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7pPr>
            <a:lvl8pPr algn="l">
              <a:defRPr sz="292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8pPr>
            <a:lvl9pPr algn="l">
              <a:defRPr sz="292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l">
              <a:defRPr sz="292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pPr>
            <a:r>
              <a:rPr sz="2925" b="0">
                <a:solidFill>
                  <a:srgbClr val="3659DE"/>
                </a:solidFill>
                <a:latin typeface="Arimo"/>
                <a:ea typeface="Arimo"/>
                <a:cs typeface="Arimo"/>
              </a:rPr>
              <a:t>a</a:t>
            </a:r>
          </a:p>
        </p:txBody>
      </p:sp>
      <p:sp>
        <p:nvSpPr>
          <p:cNvPr id="230" name="equation-a-subscript">
            <a:extLst xmlns:a="http://schemas.openxmlformats.org/drawingml/2006/main">
              <a:ext uri="{FF2B5EF4-FFF2-40B4-BE49-F238E27FC236}">
                <a16:creationId xmlns:a16="http://schemas.microsoft.com/office/drawing/2014/main" id="{6405AA6D-6B1F-4D46-ABEB-4E36A7C2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7725" y="5819775"/>
            <a:ext cx="161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defPPr>
            <a:lvl1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1pPr>
            <a:lvl2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2pPr>
            <a:lvl3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3pPr>
            <a:lvl4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4pPr>
            <a:lvl5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5pPr>
            <a:lvl6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6pPr>
            <a:lvl7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7pPr>
            <a:lvl8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8pPr>
            <a:lvl9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pPr>
            <a:r>
              <a:rPr sz="1575" b="0">
                <a:solidFill>
                  <a:srgbClr val="3659DE"/>
                </a:solidFill>
                <a:latin typeface="Arimo"/>
                <a:ea typeface="Arimo"/>
                <a:cs typeface="Arimo"/>
              </a:rPr>
              <a:t>t</a:t>
            </a:r>
          </a:p>
        </p:txBody>
      </p:sp>
      <p:sp>
        <p:nvSpPr>
          <p:cNvPr id="231" name="equation-equals">
            <a:extLst xmlns:a="http://schemas.openxmlformats.org/drawingml/2006/main">
              <a:ext uri="{FF2B5EF4-FFF2-40B4-BE49-F238E27FC236}">
                <a16:creationId xmlns:a16="http://schemas.microsoft.com/office/drawing/2014/main" id="{EA59905C-7AD9-4BD3-B866-44871793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558165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defPPr>
            <a:lvl1pPr algn="l">
              <a:defRPr sz="27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1pPr>
            <a:lvl2pPr algn="l">
              <a:defRPr sz="27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2pPr>
            <a:lvl3pPr algn="l">
              <a:defRPr sz="27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3pPr>
            <a:lvl4pPr algn="l">
              <a:defRPr sz="27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4pPr>
            <a:lvl5pPr algn="l">
              <a:defRPr sz="27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5pPr>
            <a:lvl6pPr algn="l">
              <a:defRPr sz="27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6pPr>
            <a:lvl7pPr algn="l">
              <a:defRPr sz="27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7pPr>
            <a:lvl8pPr algn="l">
              <a:defRPr sz="27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8pPr>
            <a:lvl9pPr algn="l">
              <a:defRPr sz="27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l">
              <a:defRPr sz="27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pPr>
            <a:r>
              <a:rPr sz="2775" b="0">
                <a:solidFill>
                  <a:srgbClr val="3659DE"/>
                </a:solidFill>
                <a:latin typeface="Arimo"/>
                <a:ea typeface="Arimo"/>
                <a:cs typeface="Arimo"/>
              </a:rPr>
              <a:t>=</a:t>
            </a:r>
          </a:p>
        </p:txBody>
      </p:sp>
      <p:sp>
        <p:nvSpPr>
          <p:cNvPr id="232" name="equation-argmax">
            <a:extLst xmlns:a="http://schemas.openxmlformats.org/drawingml/2006/main">
              <a:ext uri="{FF2B5EF4-FFF2-40B4-BE49-F238E27FC236}">
                <a16:creationId xmlns:a16="http://schemas.microsoft.com/office/drawing/2014/main" id="{DF978EB3-C3AA-409B-9491-0A98F59F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5581650"/>
            <a:ext cx="1362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defPPr>
            <a:lvl1pPr algn="l">
              <a:defRPr sz="2550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1pPr>
            <a:lvl2pPr algn="l">
              <a:defRPr sz="2550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2pPr>
            <a:lvl3pPr algn="l">
              <a:defRPr sz="2550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3pPr>
            <a:lvl4pPr algn="l">
              <a:defRPr sz="2550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4pPr>
            <a:lvl5pPr algn="l">
              <a:defRPr sz="2550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5pPr>
            <a:lvl6pPr algn="l">
              <a:defRPr sz="2550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6pPr>
            <a:lvl7pPr algn="l">
              <a:defRPr sz="2550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7pPr>
            <a:lvl8pPr algn="l">
              <a:defRPr sz="2550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8pPr>
            <a:lvl9pPr algn="l">
              <a:defRPr sz="2550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pPr>
            <a:r>
              <a:rPr sz="2550" b="0">
                <a:solidFill>
                  <a:srgbClr val="3659DE"/>
                </a:solidFill>
                <a:latin typeface="Arimo"/>
                <a:ea typeface="Arimo"/>
                <a:cs typeface="Arimo"/>
              </a:rPr>
              <a:t>arg max</a:t>
            </a:r>
          </a:p>
        </p:txBody>
      </p:sp>
      <p:sp>
        <p:nvSpPr>
          <p:cNvPr id="233" name="equation-domain">
            <a:extLst xmlns:a="http://schemas.openxmlformats.org/drawingml/2006/main">
              <a:ext uri="{FF2B5EF4-FFF2-40B4-BE49-F238E27FC236}">
                <a16:creationId xmlns:a16="http://schemas.microsoft.com/office/drawing/2014/main" id="{E34D2DFF-DEDE-4FD0-81D5-8A5EAFD2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6038850"/>
            <a:ext cx="685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defPPr>
            <a:lvl1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1pPr>
            <a:lvl2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2pPr>
            <a:lvl3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3pPr>
            <a:lvl4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4pPr>
            <a:lvl5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5pPr>
            <a:lvl6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6pPr>
            <a:lvl7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7pPr>
            <a:lvl8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8pPr>
            <a:lvl9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pPr>
            <a:r>
              <a:rPr sz="1575" b="0">
                <a:solidFill>
                  <a:srgbClr val="3659DE"/>
                </a:solidFill>
                <a:latin typeface="Arimo"/>
                <a:ea typeface="Arimo"/>
                <a:cs typeface="Arimo"/>
              </a:rPr>
              <a:t>a ∈ A</a:t>
            </a:r>
          </a:p>
        </p:txBody>
      </p:sp>
      <p:sp>
        <p:nvSpPr>
          <p:cNvPr id="234" name="equation-domain-allowed">
            <a:extLst xmlns:a="http://schemas.openxmlformats.org/drawingml/2006/main">
              <a:ext uri="{FF2B5EF4-FFF2-40B4-BE49-F238E27FC236}">
                <a16:creationId xmlns:a16="http://schemas.microsoft.com/office/drawing/2014/main" id="{83456475-3487-4D14-A888-E15D40D0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61722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defPPr>
            <a:lvl1pPr algn="l">
              <a:defRPr sz="1050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1pPr>
            <a:lvl2pPr algn="l">
              <a:defRPr sz="1050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2pPr>
            <a:lvl3pPr algn="l">
              <a:defRPr sz="1050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3pPr>
            <a:lvl4pPr algn="l">
              <a:defRPr sz="1050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4pPr>
            <a:lvl5pPr algn="l">
              <a:defRPr sz="1050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5pPr>
            <a:lvl6pPr algn="l">
              <a:defRPr sz="1050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6pPr>
            <a:lvl7pPr algn="l">
              <a:defRPr sz="1050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7pPr>
            <a:lvl8pPr algn="l">
              <a:defRPr sz="1050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8pPr>
            <a:lvl9pPr algn="l">
              <a:defRPr sz="1050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pPr>
            <a:r>
              <a:rPr sz="1050" b="0">
                <a:solidFill>
                  <a:srgbClr val="3659DE"/>
                </a:solidFill>
                <a:latin typeface="Arimo"/>
                <a:ea typeface="Arimo"/>
                <a:cs typeface="Arimo"/>
              </a:rPr>
              <a:t>허용</a:t>
            </a:r>
          </a:p>
        </p:txBody>
      </p:sp>
      <p:sp>
        <p:nvSpPr>
          <p:cNvPr id="235" name="equation-domain-state">
            <a:extLst xmlns:a="http://schemas.openxmlformats.org/drawingml/2006/main">
              <a:ext uri="{FF2B5EF4-FFF2-40B4-BE49-F238E27FC236}">
                <a16:creationId xmlns:a16="http://schemas.microsoft.com/office/drawing/2014/main" id="{6AC8FA66-BC0F-4FFF-9293-11F602B2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6038850"/>
            <a:ext cx="238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defPPr>
            <a:lvl1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1pPr>
            <a:lvl2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2pPr>
            <a:lvl3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3pPr>
            <a:lvl4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4pPr>
            <a:lvl5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5pPr>
            <a:lvl6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6pPr>
            <a:lvl7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7pPr>
            <a:lvl8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8pPr>
            <a:lvl9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pPr>
            <a:r>
              <a:rPr sz="1575" b="0">
                <a:solidFill>
                  <a:srgbClr val="3659DE"/>
                </a:solidFill>
                <a:latin typeface="Arimo"/>
                <a:ea typeface="Arimo"/>
                <a:cs typeface="Arimo"/>
              </a:rPr>
              <a:t>(s</a:t>
            </a:r>
          </a:p>
        </p:txBody>
      </p:sp>
      <p:sp>
        <p:nvSpPr>
          <p:cNvPr id="236" name="equation-domain-t">
            <a:extLst xmlns:a="http://schemas.openxmlformats.org/drawingml/2006/main">
              <a:ext uri="{FF2B5EF4-FFF2-40B4-BE49-F238E27FC236}">
                <a16:creationId xmlns:a16="http://schemas.microsoft.com/office/drawing/2014/main" id="{8F06D950-499F-4896-B671-EE3D6B15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0325" y="6172200"/>
            <a:ext cx="9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defPPr>
            <a:lvl1pPr algn="l">
              <a:defRPr sz="1050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1pPr>
            <a:lvl2pPr algn="l">
              <a:defRPr sz="1050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2pPr>
            <a:lvl3pPr algn="l">
              <a:defRPr sz="1050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3pPr>
            <a:lvl4pPr algn="l">
              <a:defRPr sz="1050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4pPr>
            <a:lvl5pPr algn="l">
              <a:defRPr sz="1050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5pPr>
            <a:lvl6pPr algn="l">
              <a:defRPr sz="1050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6pPr>
            <a:lvl7pPr algn="l">
              <a:defRPr sz="1050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7pPr>
            <a:lvl8pPr algn="l">
              <a:defRPr sz="1050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8pPr>
            <a:lvl9pPr algn="l">
              <a:defRPr sz="1050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pPr>
            <a:r>
              <a:rPr sz="1050" b="0">
                <a:solidFill>
                  <a:srgbClr val="3659DE"/>
                </a:solidFill>
                <a:latin typeface="Arimo"/>
                <a:ea typeface="Arimo"/>
                <a:cs typeface="Arimo"/>
              </a:rPr>
              <a:t>t</a:t>
            </a:r>
          </a:p>
        </p:txBody>
      </p:sp>
      <p:sp>
        <p:nvSpPr>
          <p:cNvPr id="237" name="equation-domain-close">
            <a:extLst xmlns:a="http://schemas.openxmlformats.org/drawingml/2006/main">
              <a:ext uri="{FF2B5EF4-FFF2-40B4-BE49-F238E27FC236}">
                <a16:creationId xmlns:a16="http://schemas.microsoft.com/office/drawing/2014/main" id="{38009E95-C0DD-4F96-AFC0-12B61621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6038850"/>
            <a:ext cx="1238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defPPr>
            <a:lvl1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1pPr>
            <a:lvl2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2pPr>
            <a:lvl3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3pPr>
            <a:lvl4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4pPr>
            <a:lvl5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5pPr>
            <a:lvl6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6pPr>
            <a:lvl7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7pPr>
            <a:lvl8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8pPr>
            <a:lvl9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pPr>
            <a:r>
              <a:rPr sz="1575" b="0">
                <a:solidFill>
                  <a:srgbClr val="3659DE"/>
                </a:solidFill>
                <a:latin typeface="Arimo"/>
                <a:ea typeface="Arimo"/>
                <a:cs typeface="Arimo"/>
              </a:rPr>
              <a:t>)</a:t>
            </a:r>
          </a:p>
        </p:txBody>
      </p:sp>
      <p:sp>
        <p:nvSpPr>
          <p:cNvPr id="238" name="equation-z">
            <a:extLst xmlns:a="http://schemas.openxmlformats.org/drawingml/2006/main">
              <a:ext uri="{FF2B5EF4-FFF2-40B4-BE49-F238E27FC236}">
                <a16:creationId xmlns:a16="http://schemas.microsoft.com/office/drawing/2014/main" id="{39DFD6A3-43F8-4BF7-B988-D836AD1C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6100" y="5581650"/>
            <a:ext cx="276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92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defPPr>
            <a:lvl1pPr algn="l">
              <a:defRPr sz="292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1pPr>
            <a:lvl2pPr algn="l">
              <a:defRPr sz="292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2pPr>
            <a:lvl3pPr algn="l">
              <a:defRPr sz="292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3pPr>
            <a:lvl4pPr algn="l">
              <a:defRPr sz="292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4pPr>
            <a:lvl5pPr algn="l">
              <a:defRPr sz="292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5pPr>
            <a:lvl6pPr algn="l">
              <a:defRPr sz="292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6pPr>
            <a:lvl7pPr algn="l">
              <a:defRPr sz="292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7pPr>
            <a:lvl8pPr algn="l">
              <a:defRPr sz="292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8pPr>
            <a:lvl9pPr algn="l">
              <a:defRPr sz="292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l">
              <a:defRPr sz="292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pPr>
            <a:r>
              <a:rPr sz="2925" b="0">
                <a:solidFill>
                  <a:srgbClr val="3659DE"/>
                </a:solidFill>
                <a:latin typeface="Arimo"/>
                <a:ea typeface="Arimo"/>
                <a:cs typeface="Arimo"/>
              </a:rPr>
              <a:t>z</a:t>
            </a:r>
          </a:p>
        </p:txBody>
      </p:sp>
      <p:sp>
        <p:nvSpPr>
          <p:cNvPr id="239" name="equation-theta">
            <a:extLst xmlns:a="http://schemas.openxmlformats.org/drawingml/2006/main">
              <a:ext uri="{FF2B5EF4-FFF2-40B4-BE49-F238E27FC236}">
                <a16:creationId xmlns:a16="http://schemas.microsoft.com/office/drawing/2014/main" id="{20E4E437-0FA1-4117-BD20-282E0984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5819775"/>
            <a:ext cx="219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defPPr>
            <a:lvl1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1pPr>
            <a:lvl2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2pPr>
            <a:lvl3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3pPr>
            <a:lvl4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4pPr>
            <a:lvl5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5pPr>
            <a:lvl6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6pPr>
            <a:lvl7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7pPr>
            <a:lvl8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8pPr>
            <a:lvl9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pPr>
            <a:r>
              <a:rPr sz="1575" b="0">
                <a:solidFill>
                  <a:srgbClr val="3659DE"/>
                </a:solidFill>
                <a:latin typeface="Arimo"/>
                <a:ea typeface="Arimo"/>
                <a:cs typeface="Arimo"/>
              </a:rPr>
              <a:t>θ</a:t>
            </a:r>
          </a:p>
        </p:txBody>
      </p:sp>
      <p:sp>
        <p:nvSpPr>
          <p:cNvPr id="240" name="equation-state">
            <a:extLst xmlns:a="http://schemas.openxmlformats.org/drawingml/2006/main">
              <a:ext uri="{FF2B5EF4-FFF2-40B4-BE49-F238E27FC236}">
                <a16:creationId xmlns:a16="http://schemas.microsoft.com/office/drawing/2014/main" id="{21F3FB54-6CFC-408F-BD1E-E5B0C8DD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3300" y="5581650"/>
            <a:ext cx="43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92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defPPr>
            <a:lvl1pPr algn="l">
              <a:defRPr sz="292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1pPr>
            <a:lvl2pPr algn="l">
              <a:defRPr sz="292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2pPr>
            <a:lvl3pPr algn="l">
              <a:defRPr sz="292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3pPr>
            <a:lvl4pPr algn="l">
              <a:defRPr sz="292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4pPr>
            <a:lvl5pPr algn="l">
              <a:defRPr sz="292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5pPr>
            <a:lvl6pPr algn="l">
              <a:defRPr sz="292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6pPr>
            <a:lvl7pPr algn="l">
              <a:defRPr sz="292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7pPr>
            <a:lvl8pPr algn="l">
              <a:defRPr sz="292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8pPr>
            <a:lvl9pPr algn="l">
              <a:defRPr sz="292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l">
              <a:defRPr sz="292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pPr>
            <a:r>
              <a:rPr sz="2925" b="0">
                <a:solidFill>
                  <a:srgbClr val="3659DE"/>
                </a:solidFill>
                <a:latin typeface="Arimo"/>
                <a:ea typeface="Arimo"/>
                <a:cs typeface="Arimo"/>
              </a:rPr>
              <a:t>(s</a:t>
            </a:r>
          </a:p>
        </p:txBody>
      </p:sp>
      <p:sp>
        <p:nvSpPr>
          <p:cNvPr id="241" name="equation-state-t">
            <a:extLst xmlns:a="http://schemas.openxmlformats.org/drawingml/2006/main">
              <a:ext uri="{FF2B5EF4-FFF2-40B4-BE49-F238E27FC236}">
                <a16:creationId xmlns:a16="http://schemas.microsoft.com/office/drawing/2014/main" id="{1E8F5723-4D01-45DD-A7A4-37F9BBCA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5819775"/>
            <a:ext cx="161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defPPr>
            <a:lvl1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1pPr>
            <a:lvl2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2pPr>
            <a:lvl3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3pPr>
            <a:lvl4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4pPr>
            <a:lvl5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5pPr>
            <a:lvl6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6pPr>
            <a:lvl7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7pPr>
            <a:lvl8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8pPr>
            <a:lvl9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pPr>
            <a:r>
              <a:rPr sz="1575" b="0">
                <a:solidFill>
                  <a:srgbClr val="3659DE"/>
                </a:solidFill>
                <a:latin typeface="Arimo"/>
                <a:ea typeface="Arimo"/>
                <a:cs typeface="Arimo"/>
              </a:rPr>
              <a:t>t</a:t>
            </a:r>
          </a:p>
        </p:txBody>
      </p:sp>
      <p:sp>
        <p:nvSpPr>
          <p:cNvPr id="242" name="equation-action">
            <a:extLst xmlns:a="http://schemas.openxmlformats.org/drawingml/2006/main">
              <a:ext uri="{FF2B5EF4-FFF2-40B4-BE49-F238E27FC236}">
                <a16:creationId xmlns:a16="http://schemas.microsoft.com/office/drawing/2014/main" id="{ECF952BC-BE46-4524-995D-2B36E4AC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5275" y="5581650"/>
            <a:ext cx="90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92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defPPr>
            <a:lvl1pPr algn="l">
              <a:defRPr sz="292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1pPr>
            <a:lvl2pPr algn="l">
              <a:defRPr sz="292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2pPr>
            <a:lvl3pPr algn="l">
              <a:defRPr sz="292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3pPr>
            <a:lvl4pPr algn="l">
              <a:defRPr sz="292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4pPr>
            <a:lvl5pPr algn="l">
              <a:defRPr sz="292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5pPr>
            <a:lvl6pPr algn="l">
              <a:defRPr sz="292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6pPr>
            <a:lvl7pPr algn="l">
              <a:defRPr sz="292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7pPr>
            <a:lvl8pPr algn="l">
              <a:defRPr sz="292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8pPr>
            <a:lvl9pPr algn="l">
              <a:defRPr sz="292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l">
              <a:defRPr sz="2925" b="0">
                <a:solidFill>
                  <a:srgbClr val="3659DE"/>
                </a:solidFill>
                <a:latin typeface="Arimo"/>
                <a:ea typeface="Arimo"/>
                <a:cs typeface="Arimo"/>
              </a:defRPr>
            </a:pPr>
            <a:r>
              <a:rPr sz="2925" b="0">
                <a:solidFill>
                  <a:srgbClr val="3659DE"/>
                </a:solidFill>
                <a:latin typeface="Arimo"/>
                <a:ea typeface="Arimo"/>
                <a:cs typeface="Arimo"/>
              </a:rPr>
              <a:t>, a)</a:t>
            </a:r>
          </a:p>
        </p:txBody>
      </p:sp>
      <p:sp>
        <p:nvSpPr>
          <p:cNvPr id="243" name="equation-explanation">
            <a:extLst xmlns:a="http://schemas.openxmlformats.org/drawingml/2006/main">
              <a:ext uri="{FF2B5EF4-FFF2-40B4-BE49-F238E27FC236}">
                <a16:creationId xmlns:a16="http://schemas.microsoft.com/office/drawing/2014/main" id="{FCC7703A-D663-4DF2-B9BE-F7E87C81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6438900"/>
            <a:ext cx="4914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defPPr>
            <a:lvl1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1pPr>
            <a:lvl2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2pPr>
            <a:lvl3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3pPr>
            <a:lvl4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4pPr>
            <a:lvl5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5pPr>
            <a:lvl6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6pPr>
            <a:lvl7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7pPr>
            <a:lvl8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8pPr>
            <a:lvl9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pPr>
            <a:r>
              <a:rPr sz="1650" b="0">
                <a:solidFill>
                  <a:srgbClr val="202124"/>
                </a:solidFill>
                <a:latin typeface="Arimo"/>
                <a:ea typeface="Arimo"/>
                <a:cs typeface="Arimo"/>
              </a:rPr>
              <a:t>허용 후보 중 신경망 점수가 가장 높은 행동 선택</a:t>
            </a:r>
          </a:p>
        </p:txBody>
      </p:sp>
      <p:sp>
        <p:nvSpPr>
          <p:cNvPr id="244" name="definition-state">
            <a:extLst xmlns:a="http://schemas.openxmlformats.org/drawingml/2006/main">
              <a:ext uri="{FF2B5EF4-FFF2-40B4-BE49-F238E27FC236}">
                <a16:creationId xmlns:a16="http://schemas.microsoft.com/office/drawing/2014/main" id="{359C6BAF-8461-472A-8D69-49E3EE42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7019925"/>
            <a:ext cx="4914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defPPr>
            <a:lvl1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1pPr>
            <a:lvl2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2pPr>
            <a:lvl3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3pPr>
            <a:lvl4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4pPr>
            <a:lvl5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5pPr>
            <a:lvl6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6pPr>
            <a:lvl7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7pPr>
            <a:lvl8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8pPr>
            <a:lvl9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pPr>
            <a:r>
              <a:rPr sz="1650" b="0">
                <a:solidFill>
                  <a:srgbClr val="202124"/>
                </a:solidFill>
                <a:latin typeface="Arimo"/>
                <a:ea typeface="Arimo"/>
                <a:cs typeface="Arimo"/>
              </a:rPr>
              <a:t>sₜ : 현재 요청·기기 상태</a:t>
            </a:r>
          </a:p>
        </p:txBody>
      </p:sp>
      <p:sp>
        <p:nvSpPr>
          <p:cNvPr id="245" name="definition-allowed">
            <a:extLst xmlns:a="http://schemas.openxmlformats.org/drawingml/2006/main">
              <a:ext uri="{FF2B5EF4-FFF2-40B4-BE49-F238E27FC236}">
                <a16:creationId xmlns:a16="http://schemas.microsoft.com/office/drawing/2014/main" id="{C22C4ECD-B327-402E-AF00-F19484AD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7324725"/>
            <a:ext cx="4914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defPPr>
            <a:lvl1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1pPr>
            <a:lvl2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2pPr>
            <a:lvl3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3pPr>
            <a:lvl4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4pPr>
            <a:lvl5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5pPr>
            <a:lvl6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6pPr>
            <a:lvl7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7pPr>
            <a:lvl8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8pPr>
            <a:lvl9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pPr>
            <a:r>
              <a:rPr sz="1650" b="0">
                <a:solidFill>
                  <a:srgbClr val="202124"/>
                </a:solidFill>
                <a:latin typeface="Arimo"/>
                <a:ea typeface="Arimo"/>
                <a:cs typeface="Arimo"/>
              </a:rPr>
              <a:t>A허용 : 제약·보완 규칙을 반영한 후보</a:t>
            </a:r>
          </a:p>
        </p:txBody>
      </p:sp>
      <p:sp>
        <p:nvSpPr>
          <p:cNvPr id="246" name="definition-score">
            <a:extLst xmlns:a="http://schemas.openxmlformats.org/drawingml/2006/main">
              <a:ext uri="{FF2B5EF4-FFF2-40B4-BE49-F238E27FC236}">
                <a16:creationId xmlns:a16="http://schemas.microsoft.com/office/drawing/2014/main" id="{2DF1CD28-D294-49AF-B117-AB7676A8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7629525"/>
            <a:ext cx="4914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defPPr>
            <a:lvl1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1pPr>
            <a:lvl2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2pPr>
            <a:lvl3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3pPr>
            <a:lvl4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4pPr>
            <a:lvl5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5pPr>
            <a:lvl6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6pPr>
            <a:lvl7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7pPr>
            <a:lvl8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8pPr>
            <a:lvl9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pPr>
            <a:r>
              <a:rPr sz="1650" b="0">
                <a:solidFill>
                  <a:srgbClr val="202124"/>
                </a:solidFill>
                <a:latin typeface="Arimo"/>
                <a:ea typeface="Arimo"/>
                <a:cs typeface="Arimo"/>
              </a:rPr>
              <a:t>zθ : 후보별 신경망 점수</a:t>
            </a:r>
          </a:p>
        </p:txBody>
      </p:sp>
      <p:sp>
        <p:nvSpPr>
          <p:cNvPr id="247" name="definition-action">
            <a:extLst xmlns:a="http://schemas.openxmlformats.org/drawingml/2006/main">
              <a:ext uri="{FF2B5EF4-FFF2-40B4-BE49-F238E27FC236}">
                <a16:creationId xmlns:a16="http://schemas.microsoft.com/office/drawing/2014/main" id="{7684B769-900A-4BAD-A128-B7B24275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7934325"/>
            <a:ext cx="4914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defPPr>
            <a:lvl1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1pPr>
            <a:lvl2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2pPr>
            <a:lvl3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3pPr>
            <a:lvl4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4pPr>
            <a:lvl5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5pPr>
            <a:lvl6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6pPr>
            <a:lvl7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7pPr>
            <a:lvl8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8pPr>
            <a:lvl9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Arimo"/>
                <a:ea typeface="Arimo"/>
                <a:cs typeface="Arimo"/>
              </a:defRPr>
            </a:pPr>
            <a:r>
              <a:rPr sz="1650" b="0">
                <a:solidFill>
                  <a:srgbClr val="202124"/>
                </a:solidFill>
                <a:latin typeface="Arimo"/>
                <a:ea typeface="Arimo"/>
                <a:cs typeface="Arimo"/>
              </a:rPr>
              <a:t>aₜ : 요청·자원 배정 또는 대기</a:t>
            </a:r>
          </a:p>
        </p:txBody>
      </p:sp>
    </p:spTree>
    <p:extLst>
      <p:ext uri="{BB962C8B-B14F-4D97-AF65-F5344CB8AC3E}">
        <p14:creationId xmlns:p14="http://schemas.microsoft.com/office/powerpoint/2010/main" val="135474608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2026-10-22T07:16:46.9720000Z</dcterms:created>
  <dcterms:modified xsi:type="dcterms:W3CDTF">2026-10-22T07:16:46.9720000Z</dcterms:modified>
</coreProperties>
</file>